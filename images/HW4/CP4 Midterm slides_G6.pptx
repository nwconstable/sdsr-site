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DM Sans Medium"/>
      <p:regular r:id="rId25"/>
      <p:bold r:id="rId26"/>
      <p:italic r:id="rId27"/>
      <p:boldItalic r:id="rId28"/>
    </p:embeddedFont>
    <p:embeddedFont>
      <p:font typeface="Playfair Display"/>
      <p:regular r:id="rId29"/>
      <p:bold r:id="rId30"/>
      <p:italic r:id="rId31"/>
      <p:boldItalic r:id="rId32"/>
    </p:embeddedFont>
    <p:embeddedFont>
      <p:font typeface="Merriweath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BE569B-C4C6-4FE7-A098-3BC1AC3CCB0E}">
  <a:tblStyle styleId="{9ABE569B-C4C6-4FE7-A098-3BC1AC3CCB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Medium-bold.fntdata"/><Relationship Id="rId25" Type="http://schemas.openxmlformats.org/officeDocument/2006/relationships/font" Target="fonts/DMSansMedium-regular.fntdata"/><Relationship Id="rId28" Type="http://schemas.openxmlformats.org/officeDocument/2006/relationships/font" Target="fonts/DMSansMedium-boldItalic.fntdata"/><Relationship Id="rId27" Type="http://schemas.openxmlformats.org/officeDocument/2006/relationships/font" Target="fonts/DMSans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italic.fntdata"/><Relationship Id="rId30" Type="http://schemas.openxmlformats.org/officeDocument/2006/relationships/font" Target="fonts/PlayfairDisplay-bold.fntdata"/><Relationship Id="rId11" Type="http://schemas.openxmlformats.org/officeDocument/2006/relationships/slide" Target="slides/slide5.xml"/><Relationship Id="rId33" Type="http://schemas.openxmlformats.org/officeDocument/2006/relationships/font" Target="fonts/Merriweather-regular.fntdata"/><Relationship Id="rId10" Type="http://schemas.openxmlformats.org/officeDocument/2006/relationships/slide" Target="slides/slide4.xml"/><Relationship Id="rId32" Type="http://schemas.openxmlformats.org/officeDocument/2006/relationships/font" Target="fonts/PlayfairDisplay-boldItalic.fntdata"/><Relationship Id="rId13" Type="http://schemas.openxmlformats.org/officeDocument/2006/relationships/slide" Target="slides/slide7.xml"/><Relationship Id="rId35" Type="http://schemas.openxmlformats.org/officeDocument/2006/relationships/font" Target="fonts/Merriweather-italic.fntdata"/><Relationship Id="rId12" Type="http://schemas.openxmlformats.org/officeDocument/2006/relationships/slide" Target="slides/slide6.xml"/><Relationship Id="rId34" Type="http://schemas.openxmlformats.org/officeDocument/2006/relationships/font" Target="fonts/Merriweather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Merriweather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ca977025c_5_3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cca977025c_5_34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bf989397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bf989397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c87f8c678_1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c87f8c678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c87f8c678_1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c87f8c678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c87f8c67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c87f8c67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c87f8c678_1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c87f8c678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c87f8c678_1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c87f8c678_1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c87f8c678_1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c87f8c678_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c87f8c678_1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c87f8c678_1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c87f8c67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c87f8c67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4e93f88c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4e93f88c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4e93f88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4e93f88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4e93f88c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4e93f88c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4e93f88c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4e93f88c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4e93f88c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4e93f88c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4e93f88c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c4e93f88c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4e93f88c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4e93f88c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4e93f88c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4e93f88c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443630" y="618490"/>
            <a:ext cx="8256600" cy="20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79001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84725" y="503825"/>
            <a:ext cx="4538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79001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75249" y="1176350"/>
            <a:ext cx="4361100" cy="3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84725" y="503825"/>
            <a:ext cx="4538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79001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84725" y="503825"/>
            <a:ext cx="4538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79001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indent="-2286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indent="-2286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indent="-2286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indent="-2286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indent="-2286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indent="-2286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indent="-2286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indent="-2286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indent="-2286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indent="-2286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indent="-2286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indent="-2286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2286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indent="-2286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indent="-2286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indent="-2286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indent="-2286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indent="-2286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indent="-2286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0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indent="-2286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indent="-2286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indent="-2286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indent="-2286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indent="-2286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indent="-2286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" name="Google Shape;66;p1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indent="-2286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indent="-2286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indent="-2286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indent="-2286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indent="-2286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indent="-2286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2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72" name="Google Shape;72;p12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indent="-2286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indent="-2286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indent="-2286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indent="-2286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indent="-2286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indent="-2286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5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None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None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None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None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None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None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None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None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 Medium"/>
              <a:buNone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4" name="Google Shape;104;p13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13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indent="-228600" lvl="1" marL="91440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4725" y="503825"/>
            <a:ext cx="4538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79001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5249" y="1176350"/>
            <a:ext cx="4361100" cy="3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hyperlink" Target="https://www.tomtom.com/traffic-index/city/minneapolis-m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hyperlink" Target="https://streets.mn/2018/11/05/map-monday-visualizing-twin-cities-sprawl-density-and-change/" TargetMode="External"/><Relationship Id="rId7" Type="http://schemas.openxmlformats.org/officeDocument/2006/relationships/hyperlink" Target="https://www.researchgate.net/figure/Daytime-population-density-of-the-Twin-Cities-metropolitan-area_fig1_344794320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hyperlink" Target="https://felt.com/explore/hospitals-clinics-city-minneapolis-minnesota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ops.dagstuhl.de/entities/document/10.4230/LIPIcs.GISCIENCE.2018.10" TargetMode="External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sciencedirect.com/science/article/pii/S0143622818309081" TargetMode="External"/><Relationship Id="rId4" Type="http://schemas.openxmlformats.org/officeDocument/2006/relationships/hyperlink" Target="https://www.sciencedirect.com/science/article/pii/S0143622818309081" TargetMode="External"/><Relationship Id="rId5" Type="http://schemas.openxmlformats.org/officeDocument/2006/relationships/hyperlink" Target="https://www.sciencedirect.com/science/article/pii/S0143622818309081" TargetMode="External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hyperlink" Target="mailto:liu03674@umn.edu" TargetMode="External"/><Relationship Id="rId4" Type="http://schemas.openxmlformats.org/officeDocument/2006/relationships/hyperlink" Target="mailto:lin01438@umn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47008"/>
            <a:ext cx="9144000" cy="89649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>
            <p:ph type="ctrTitle"/>
          </p:nvPr>
        </p:nvSpPr>
        <p:spPr>
          <a:xfrm>
            <a:off x="443630" y="618490"/>
            <a:ext cx="82566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3334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0000"/>
                </a:solidFill>
              </a:rPr>
              <a:t>Spatial Temporal Rush-Hour Traffic Local Co-location Detection and Spatial Equity</a:t>
            </a:r>
            <a:endParaRPr sz="4000"/>
          </a:p>
        </p:txBody>
      </p:sp>
      <p:sp>
        <p:nvSpPr>
          <p:cNvPr id="112" name="Google Shape;112;p14"/>
          <p:cNvSpPr txBox="1"/>
          <p:nvPr/>
        </p:nvSpPr>
        <p:spPr>
          <a:xfrm>
            <a:off x="2124307" y="2892926"/>
            <a:ext cx="4898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790019"/>
                </a:solidFill>
                <a:latin typeface="Trebuchet MS"/>
                <a:ea typeface="Trebuchet MS"/>
                <a:cs typeface="Trebuchet MS"/>
                <a:sym typeface="Trebuchet MS"/>
              </a:rPr>
              <a:t>Max Lin</a:t>
            </a:r>
            <a:r>
              <a:rPr lang="en" sz="2800">
                <a:solidFill>
                  <a:srgbClr val="790019"/>
                </a:solidFill>
                <a:latin typeface="Trebuchet MS"/>
                <a:ea typeface="Trebuchet MS"/>
                <a:cs typeface="Trebuchet MS"/>
                <a:sym typeface="Trebuchet MS"/>
              </a:rPr>
              <a:t>, Chih-Ying Liu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2109900" y="0"/>
            <a:ext cx="49242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Problem Statement</a:t>
            </a:r>
            <a:endParaRPr sz="3000"/>
          </a:p>
        </p:txBody>
      </p:sp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62075" y="883875"/>
            <a:ext cx="61338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Inputs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●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Geolocated traffic events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●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Time-stamped records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●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Community-level spatial partitions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●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Demographic and exposure data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62075" y="2371450"/>
            <a:ext cx="6133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●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Spatial temporal local co-location traffic pattern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●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Identification of spatial equity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62075" y="3572650"/>
            <a:ext cx="6133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Objectives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●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Find out the traffic pattern and community resource distribution. And provide suggestions to the policy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2109900" y="0"/>
            <a:ext cx="49242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Significance of Problem</a:t>
            </a:r>
            <a:endParaRPr sz="3000"/>
          </a:p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81225" y="1239275"/>
            <a:ext cx="63171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Rush-hour traffic creates concentrated risk in specific locations and time periods.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Some communities may experience higher traffic exposure than others.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Identifying 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traffic spatial temporal pattern helps discover the spatial inequality.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results support better traffic plan and policy 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making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2109900" y="0"/>
            <a:ext cx="49242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Challenges</a:t>
            </a:r>
            <a:endParaRPr sz="3000"/>
          </a:p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25100" y="1250250"/>
            <a:ext cx="6317100" cy="1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Averaging traffic data may hide rush-hour patterns.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Fair comparison across communities requires population normalization.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Detecting high-density traffic zone and calculating population are challenging.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241250" y="350950"/>
            <a:ext cx="40665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Proposed Approach</a:t>
            </a:r>
            <a:endParaRPr sz="3000"/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241250" y="1897075"/>
            <a:ext cx="4432800" cy="29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Detect the </a:t>
            </a:r>
            <a:r>
              <a:rPr b="1" lang="en" sz="1600"/>
              <a:t>rush-hour traffic</a:t>
            </a:r>
            <a:r>
              <a:rPr lang="en" sz="1600"/>
              <a:t> risk pattern.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Utilize co-location technique to find out the high-density traffic location.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175" y="112925"/>
            <a:ext cx="3870075" cy="2038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4175" y="2726050"/>
            <a:ext cx="3870075" cy="202387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127450" y="2140638"/>
            <a:ext cx="334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Morning rush-hour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5186725" y="4749913"/>
            <a:ext cx="334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Eve</a:t>
            </a: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ning rush-hour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2577350" y="4788475"/>
            <a:ext cx="311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Tomtom traffic index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241250" y="350950"/>
            <a:ext cx="40665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Proposed Approach</a:t>
            </a:r>
            <a:endParaRPr sz="3000"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241250" y="1897075"/>
            <a:ext cx="4454100" cy="28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Extend participation index by taking </a:t>
            </a:r>
            <a:r>
              <a:rPr b="1" lang="en" sz="1600"/>
              <a:t>time dimension</a:t>
            </a:r>
            <a:r>
              <a:rPr lang="en" sz="1600"/>
              <a:t> into consideration.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Fix the time on the rush-hour so that the index would not be averaged out.</a:t>
            </a:r>
            <a:endParaRPr sz="1600"/>
          </a:p>
        </p:txBody>
      </p:sp>
      <p:sp>
        <p:nvSpPr>
          <p:cNvPr id="154" name="Google Shape;154;p19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9" title="截圖 2026-03-03 下午9.14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5125" y="1062025"/>
            <a:ext cx="2945188" cy="124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5020700" y="416750"/>
            <a:ext cx="38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Participation Rate &amp; Participation Index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7" name="Google Shape;157;p19" title="截圖 2026-03-03 下午9.15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0700" y="3387425"/>
            <a:ext cx="3624700" cy="52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5174300" y="2895275"/>
            <a:ext cx="358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considering time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241250" y="350950"/>
            <a:ext cx="40665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Proposed Approach</a:t>
            </a:r>
            <a:endParaRPr sz="3000"/>
          </a:p>
        </p:txBody>
      </p:sp>
      <p:sp>
        <p:nvSpPr>
          <p:cNvPr id="164" name="Google Shape;164;p20"/>
          <p:cNvSpPr txBox="1"/>
          <p:nvPr>
            <p:ph idx="1" type="body"/>
          </p:nvPr>
        </p:nvSpPr>
        <p:spPr>
          <a:xfrm>
            <a:off x="241250" y="1897075"/>
            <a:ext cx="3770700" cy="28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Introduce </a:t>
            </a:r>
            <a:r>
              <a:rPr b="1" lang="en" sz="1600"/>
              <a:t>demographic baseline </a:t>
            </a:r>
            <a:r>
              <a:rPr lang="en" sz="1600"/>
              <a:t>as equity-aware normalization.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Divide each PI by the population ratio for each community as normalization.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Then we call the result as Equity-aware Participation Index(EPI).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index is used to evaluate the disproportionate traffic risk.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5" name="Google Shape;165;p20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0" title="截圖 2026-03-03 下午9.18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375" y="262050"/>
            <a:ext cx="2238924" cy="23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title="截圖 2026-03-03 下午9.21.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750" y="373925"/>
            <a:ext cx="2762255" cy="208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title="截圖 2026-03-03 下午10.04.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458950"/>
            <a:ext cx="3817350" cy="6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4572000" y="4150438"/>
            <a:ext cx="427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*EPI, w are defined by ourselves</a:t>
            </a:r>
            <a:b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*Pop: population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517850" y="2946150"/>
            <a:ext cx="38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*Population density in Minneapolis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157563" y="2659747"/>
            <a:ext cx="22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3D view of population density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542100" y="2659750"/>
            <a:ext cx="22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2D view of population density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292975" y="0"/>
            <a:ext cx="40665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Proposed Approach</a:t>
            </a:r>
            <a:endParaRPr sz="3000"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241250" y="1123950"/>
            <a:ext cx="4272600" cy="28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Utilize </a:t>
            </a:r>
            <a:r>
              <a:rPr b="1" lang="en" sz="1600"/>
              <a:t>statistical inference</a:t>
            </a:r>
            <a:r>
              <a:rPr lang="en" sz="1600"/>
              <a:t> and </a:t>
            </a:r>
            <a:r>
              <a:rPr b="1" lang="en" sz="1600"/>
              <a:t>permutation test</a:t>
            </a:r>
            <a:r>
              <a:rPr lang="en" sz="1600"/>
              <a:t> to examine the spatial equity between communities.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Introduce Resource Availability(RA), representing the specific resource nearby the community.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Visualize the spatial equity.</a:t>
            </a:r>
            <a:endParaRPr sz="1600"/>
          </a:p>
        </p:txBody>
      </p:sp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67038" y="4402688"/>
            <a:ext cx="427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*RA, F are defined by ourselves</a:t>
            </a:r>
            <a:b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*F: facilities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1" name="Google Shape;181;p21" title="截圖 2026-03-04 上午3.04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275" y="2952052"/>
            <a:ext cx="2948625" cy="14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 title="截圖 2026-03-04 上午3.07.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9923" y="2495925"/>
            <a:ext cx="1982225" cy="22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3423088" y="4663225"/>
            <a:ext cx="301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Permutation test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4" name="Google Shape;184;p21" title="截圖 2026-03-04 上午3.27.3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4726" y="152400"/>
            <a:ext cx="2894725" cy="257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6302875" y="3141950"/>
            <a:ext cx="2522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of public resources: hospitals and clinics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6064075" y="27879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Public facilities in Minneapolis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303925" y="-120650"/>
            <a:ext cx="40665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Simple Example</a:t>
            </a:r>
            <a:endParaRPr sz="3000"/>
          </a:p>
        </p:txBody>
      </p:sp>
      <p:sp>
        <p:nvSpPr>
          <p:cNvPr id="192" name="Google Shape;192;p22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3" name="Google Shape;193;p22"/>
          <p:cNvGraphicFramePr/>
          <p:nvPr/>
        </p:nvGraphicFramePr>
        <p:xfrm>
          <a:off x="141000" y="8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{9ABE569B-C4C6-4FE7-A098-3BC1AC3CCB0E}</a:tableStyleId>
              </a:tblPr>
              <a:tblGrid>
                <a:gridCol w="1645175"/>
                <a:gridCol w="1294225"/>
                <a:gridCol w="1294225"/>
                <a:gridCol w="1294225"/>
                <a:gridCol w="1294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Community 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Community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Community 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Community 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 for accident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 for congestion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Equity Indicator(x)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9.21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4" name="Google Shape;194;p22"/>
          <p:cNvGraphicFramePr/>
          <p:nvPr/>
        </p:nvGraphicFramePr>
        <p:xfrm>
          <a:off x="7234900" y="8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{9ABE569B-C4C6-4FE7-A098-3BC1AC3CCB0E}</a:tableStyleId>
              </a:tblPr>
              <a:tblGrid>
                <a:gridCol w="1043150"/>
                <a:gridCol w="743100"/>
              </a:tblGrid>
              <a:tr h="45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T_obs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1.17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5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Perms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999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77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Count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 &gt;= T_bos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77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p-value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95" name="Google Shape;195;p22"/>
          <p:cNvSpPr/>
          <p:nvPr/>
        </p:nvSpPr>
        <p:spPr>
          <a:xfrm>
            <a:off x="7951050" y="3509425"/>
            <a:ext cx="219300" cy="351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7161450" y="3923275"/>
            <a:ext cx="1859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Spatial inequality of resources exists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241250" y="269375"/>
            <a:ext cx="87030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Related Work：Spatial Co-location Pattern Mining</a:t>
            </a:r>
            <a:endParaRPr sz="3000"/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351325" y="1288100"/>
            <a:ext cx="8380200" cy="12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Spatial data mining research uses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co-location pattern discovery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to detect spatial features that frequently occur together.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Typical techniques include: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5429950" y="4434025"/>
            <a:ext cx="2773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 sz="1300" u="sng">
                <a:solidFill>
                  <a:schemeClr val="hlink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Yan Li, Shashi Shekhar（2018)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389275" y="2346675"/>
            <a:ext cx="4713000" cy="25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Data-unaware spatial partitioning</a:t>
            </a:r>
            <a:br>
              <a:rPr b="1"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(e.g., QuadTree, grid-based partitioning)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Data-aware clustering methods</a:t>
            </a:r>
            <a:br>
              <a:rPr b="1"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(detect localities based on clusters of spatial objects)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Application 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Transportation / Traffic Analysis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Urban Planning / Smart Cities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3" title="Screenshot 2026-03-04 at 10.50.5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725" y="1964075"/>
            <a:ext cx="3553800" cy="22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241250" y="269375"/>
            <a:ext cx="87030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Related Work：</a:t>
            </a:r>
            <a:r>
              <a:rPr lang="en" sz="3000"/>
              <a:t>Traffic Hotspot Detection </a:t>
            </a:r>
            <a:endParaRPr sz="3000"/>
          </a:p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381900" y="1441475"/>
            <a:ext cx="8380200" cy="7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Previous studies analyze traffic crash patterns using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spatiotemporal clustering of crash records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4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4312100" y="4156825"/>
            <a:ext cx="44082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 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Michal Bíl, Richard Andrášik, Jiří Sedoník</a:t>
            </a:r>
            <a:r>
              <a:rPr lang="en" sz="1300" u="sng">
                <a:solidFill>
                  <a:schemeClr val="hlink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  <a:hlinkClick r:id="rId5"/>
              </a:rPr>
              <a:t>（2019)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5" name="Google Shape;215;p24"/>
          <p:cNvSpPr txBox="1"/>
          <p:nvPr>
            <p:ph idx="1" type="body"/>
          </p:nvPr>
        </p:nvSpPr>
        <p:spPr>
          <a:xfrm>
            <a:off x="343950" y="2346575"/>
            <a:ext cx="3702300" cy="15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The analysis also identified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three hotspot dynamics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hotspot emergence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hotspot stability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hotspot disappearance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4" title="Screenshot 2026-03-04 at 11.01.28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6421" y="2038350"/>
            <a:ext cx="4615675" cy="20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title"/>
          </p:nvPr>
        </p:nvSpPr>
        <p:spPr>
          <a:xfrm>
            <a:off x="193625" y="362025"/>
            <a:ext cx="24882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Limitations</a:t>
            </a:r>
            <a:endParaRPr sz="3000"/>
          </a:p>
        </p:txBody>
      </p:sp>
      <p:sp>
        <p:nvSpPr>
          <p:cNvPr id="222" name="Google Shape;222;p25"/>
          <p:cNvSpPr txBox="1"/>
          <p:nvPr>
            <p:ph idx="1" type="body"/>
          </p:nvPr>
        </p:nvSpPr>
        <p:spPr>
          <a:xfrm>
            <a:off x="285000" y="1341425"/>
            <a:ext cx="8231100" cy="18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Lack of integrated framework Existing research rarely integrates 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into a unified framework for traffic equity evaluation.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spatial pattern mining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temporal analysis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demographic normalization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public resource availability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223" name="Google Shape;223;p25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/>
          <p:nvPr>
            <p:ph idx="1" type="body"/>
          </p:nvPr>
        </p:nvSpPr>
        <p:spPr>
          <a:xfrm>
            <a:off x="285000" y="3321000"/>
            <a:ext cx="8231100" cy="18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Limitation In Spatial Equity Analysis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ocuses on accessibility to infrastructure, rather than dynamic risk exposure such as traffic accidents.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Doesn’t incorporate spatiotemporal interactions between traffic events and community characteristics.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241250" y="354100"/>
            <a:ext cx="82701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highlight>
                  <a:srgbClr val="FFFFFF"/>
                </a:highlight>
              </a:rPr>
              <a:t>Experimental Methodology</a:t>
            </a:r>
            <a:endParaRPr sz="3000"/>
          </a:p>
        </p:txBody>
      </p:sp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241250" y="1436700"/>
            <a:ext cx="8045400" cy="10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Step1. Data Cleaning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Partitioning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local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area data to ensure consistent spatial units, taking traffic events, demographic data, and resource locations into the grid structure.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26" title="Screenshot 2026-03-04 at 11.18.3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50" y="2571750"/>
            <a:ext cx="36195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>
            <p:ph idx="1" type="body"/>
          </p:nvPr>
        </p:nvSpPr>
        <p:spPr>
          <a:xfrm>
            <a:off x="241250" y="3748125"/>
            <a:ext cx="8045400" cy="10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Step2.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Detect Spatial-Temporal Co-location Patterns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Extract rush-hour traffic events, identify traffic features that frequently occur together during rush hours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computing Time-aware Participation Index.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6" title="Screenshot 2026-03-04 at 11.20.5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2507888"/>
            <a:ext cx="3420025" cy="90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241250" y="354100"/>
            <a:ext cx="82701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highlight>
                  <a:srgbClr val="FFFFFF"/>
                </a:highlight>
              </a:rPr>
              <a:t>Experimental Methodology</a:t>
            </a:r>
            <a:endParaRPr sz="3000"/>
          </a:p>
        </p:txBody>
      </p:sp>
      <p:sp>
        <p:nvSpPr>
          <p:cNvPr id="240" name="Google Shape;240;p27"/>
          <p:cNvSpPr txBox="1"/>
          <p:nvPr>
            <p:ph idx="1" type="body"/>
          </p:nvPr>
        </p:nvSpPr>
        <p:spPr>
          <a:xfrm>
            <a:off x="241250" y="1436700"/>
            <a:ext cx="8045400" cy="10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Step3. Equity Normalization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To account for population differences across communities, we compute population ratio and Equity-aware Participation Index (EPI).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 txBox="1"/>
          <p:nvPr>
            <p:ph idx="1" type="body"/>
          </p:nvPr>
        </p:nvSpPr>
        <p:spPr>
          <a:xfrm>
            <a:off x="241250" y="3748125"/>
            <a:ext cx="8045400" cy="10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Step4. Compare Communities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EPI values are compared across communitie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to identify areas with disproportionate traffic risk exposure.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27" title="截圖 2026-03-03 下午10.04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2744575"/>
            <a:ext cx="3817350" cy="6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/>
        </p:nvSpPr>
        <p:spPr>
          <a:xfrm>
            <a:off x="4484675" y="2710913"/>
            <a:ext cx="427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*EPI, w are defined by ourselves</a:t>
            </a:r>
            <a:b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*Pop: po</a:t>
            </a: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</a:t>
            </a: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ulation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>
            <p:ph type="title"/>
          </p:nvPr>
        </p:nvSpPr>
        <p:spPr>
          <a:xfrm>
            <a:off x="241250" y="354100"/>
            <a:ext cx="82701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highlight>
                  <a:srgbClr val="FFFFFF"/>
                </a:highlight>
              </a:rPr>
              <a:t>Evaluation Metrics</a:t>
            </a:r>
            <a:endParaRPr sz="3000"/>
          </a:p>
        </p:txBody>
      </p:sp>
      <p:sp>
        <p:nvSpPr>
          <p:cNvPr id="250" name="Google Shape;250;p28"/>
          <p:cNvSpPr txBox="1"/>
          <p:nvPr>
            <p:ph idx="1" type="body"/>
          </p:nvPr>
        </p:nvSpPr>
        <p:spPr>
          <a:xfrm>
            <a:off x="241250" y="1436700"/>
            <a:ext cx="8045400" cy="22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The proposed framework will be evaluated using: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Participation Index (PI)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Equity-aware Participation Index (EPI)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variance of normalized traffic risk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p-values from permutation tests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These metrics measure both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spatial patterns and equity disparities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8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28" title="Screenshot 2026-03-04 at 11.30.2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000" y="3476625"/>
            <a:ext cx="2912225" cy="152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8"/>
          <p:cNvSpPr txBox="1"/>
          <p:nvPr/>
        </p:nvSpPr>
        <p:spPr>
          <a:xfrm>
            <a:off x="3675075" y="3803725"/>
            <a:ext cx="42228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88888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Example of Participation Index (PI):</a:t>
            </a:r>
            <a:endParaRPr b="1" sz="1000">
              <a:solidFill>
                <a:srgbClr val="888888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88888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Civil Society Participation Index, 2024</a:t>
            </a:r>
            <a:endParaRPr b="1" sz="1000">
              <a:solidFill>
                <a:srgbClr val="888888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888888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88888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Darker colors represent higher event frequency.</a:t>
            </a:r>
            <a:endParaRPr b="1" sz="1000">
              <a:solidFill>
                <a:srgbClr val="888888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1090575" y="330300"/>
            <a:ext cx="67200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highlight>
                  <a:schemeClr val="lt1"/>
                </a:highlight>
              </a:rPr>
              <a:t>Tasks and Interdependence</a:t>
            </a:r>
            <a:endParaRPr sz="3000"/>
          </a:p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410000" y="1404375"/>
            <a:ext cx="5154300" cy="3261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Spatial-Temporal Co-location Pattern Detection</a:t>
            </a:r>
            <a:endParaRPr/>
          </a:p>
        </p:txBody>
      </p:sp>
      <p:sp>
        <p:nvSpPr>
          <p:cNvPr id="260" name="Google Shape;260;p29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9"/>
          <p:cNvSpPr txBox="1"/>
          <p:nvPr>
            <p:ph idx="1" type="body"/>
          </p:nvPr>
        </p:nvSpPr>
        <p:spPr>
          <a:xfrm>
            <a:off x="410000" y="2513225"/>
            <a:ext cx="5154300" cy="3261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Equity-aware Index Computation</a:t>
            </a:r>
            <a:endParaRPr/>
          </a:p>
        </p:txBody>
      </p:sp>
      <p:sp>
        <p:nvSpPr>
          <p:cNvPr id="262" name="Google Shape;262;p29"/>
          <p:cNvSpPr txBox="1"/>
          <p:nvPr>
            <p:ph idx="1" type="body"/>
          </p:nvPr>
        </p:nvSpPr>
        <p:spPr>
          <a:xfrm>
            <a:off x="410000" y="3622100"/>
            <a:ext cx="5154300" cy="3261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Statistical Validation</a:t>
            </a:r>
            <a:endParaRPr/>
          </a:p>
        </p:txBody>
      </p:sp>
      <p:sp>
        <p:nvSpPr>
          <p:cNvPr id="263" name="Google Shape;263;p29"/>
          <p:cNvSpPr txBox="1"/>
          <p:nvPr>
            <p:ph idx="1" type="body"/>
          </p:nvPr>
        </p:nvSpPr>
        <p:spPr>
          <a:xfrm>
            <a:off x="460400" y="1840600"/>
            <a:ext cx="8096400" cy="562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extracting rush-hour traffic events, identifying co-occurring spatial features, computing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time Participation Index (PI) 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Output 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Spatial-temporal traffic risk patterns.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9"/>
          <p:cNvSpPr txBox="1"/>
          <p:nvPr>
            <p:ph idx="1" type="body"/>
          </p:nvPr>
        </p:nvSpPr>
        <p:spPr>
          <a:xfrm>
            <a:off x="460400" y="2949463"/>
            <a:ext cx="8096400" cy="562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Computing population ratio and Equity-aware Participation Index (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EPI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Output 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Community-level traffic risk indicators.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 txBox="1"/>
          <p:nvPr>
            <p:ph idx="1" type="body"/>
          </p:nvPr>
        </p:nvSpPr>
        <p:spPr>
          <a:xfrm>
            <a:off x="460400" y="4100725"/>
            <a:ext cx="8096400" cy="562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Determine whether traffic risk distribution across communities is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statistically unequal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.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226575" y="304525"/>
            <a:ext cx="3207300" cy="11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highlight>
                  <a:srgbClr val="FFFFFF"/>
                </a:highlight>
              </a:rPr>
              <a:t>Weekly Plan</a:t>
            </a:r>
            <a:endParaRPr sz="3000"/>
          </a:p>
        </p:txBody>
      </p:sp>
      <p:sp>
        <p:nvSpPr>
          <p:cNvPr id="271" name="Google Shape;271;p30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2" name="Google Shape;272;p30"/>
          <p:cNvGraphicFramePr/>
          <p:nvPr/>
        </p:nvGraphicFramePr>
        <p:xfrm>
          <a:off x="937825" y="132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{9ABE569B-C4C6-4FE7-A098-3BC1AC3CCB0E}</a:tableStyleId>
              </a:tblPr>
              <a:tblGrid>
                <a:gridCol w="2057600"/>
                <a:gridCol w="5210750"/>
              </a:tblGrid>
              <a:tr h="49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Week timeline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Tasks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49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03/16 - 03/20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data cleaning＋initial code structure planning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9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03/23 - 03/27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Analyze rush-hour temporal patterns in the dataset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9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03/30 - 04/03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Define fairness metrics and complete the local co-location model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9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04/06 - 04/10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Model training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9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04/13 - 04/17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Analyze results and adjust the model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5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04/20 - 04/24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Final presentations begin 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 txBox="1"/>
          <p:nvPr>
            <p:ph type="title"/>
          </p:nvPr>
        </p:nvSpPr>
        <p:spPr>
          <a:xfrm>
            <a:off x="292600" y="790350"/>
            <a:ext cx="7822500" cy="3641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6000">
                <a:highlight>
                  <a:srgbClr val="FFFFFF"/>
                </a:highlight>
              </a:rPr>
              <a:t>Question?</a:t>
            </a:r>
            <a:endParaRPr sz="60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000">
                <a:highlight>
                  <a:srgbClr val="FFFFFF"/>
                </a:highlight>
              </a:rPr>
              <a:t>Email feedback:</a:t>
            </a:r>
            <a:endParaRPr sz="30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liu03674@umn.edu</a:t>
            </a:r>
            <a:endParaRPr sz="30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lin01438@umn.edu</a:t>
            </a:r>
            <a:endParaRPr sz="30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highlight>
                <a:srgbClr val="FFFFFF"/>
              </a:highlight>
            </a:endParaRPr>
          </a:p>
        </p:txBody>
      </p:sp>
      <p:sp>
        <p:nvSpPr>
          <p:cNvPr id="278" name="Google Shape;278;p31"/>
          <p:cNvSpPr txBox="1"/>
          <p:nvPr>
            <p:ph idx="12" type="sldNum"/>
          </p:nvPr>
        </p:nvSpPr>
        <p:spPr>
          <a:xfrm>
            <a:off x="8472458" y="4663217"/>
            <a:ext cx="548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
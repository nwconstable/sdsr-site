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9309100" cy="70231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  <p:embeddedFont>
      <p:font typeface="Montserrat Light"/>
      <p:regular r:id="rId30"/>
      <p:bold r:id="rId31"/>
      <p:italic r:id="rId32"/>
      <p:boldItalic r:id="rId33"/>
    </p:embeddedFont>
    <p:embeddedFont>
      <p:font typeface="Helvetica Neue"/>
      <p:regular r:id="rId34"/>
      <p:bold r:id="rId35"/>
      <p:italic r:id="rId36"/>
      <p:boldItalic r:id="rId37"/>
    </p:embeddedFont>
    <p:embeddedFont>
      <p:font typeface="Helvetica Neue Ligh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hKDSsSlzaZqjtNLCQpE/QgE7Hi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05DEDE-7AB5-4242-8DEB-E5E01B3A66BE}">
  <a:tblStyle styleId="{F105DEDE-7AB5-4242-8DEB-E5E01B3A66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Light-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HelveticaNeueLight-boldItalic.fntdata"/><Relationship Id="rId22" Type="http://schemas.openxmlformats.org/officeDocument/2006/relationships/font" Target="fonts/Montserrat-regular.fntdata"/><Relationship Id="rId21" Type="http://schemas.openxmlformats.org/officeDocument/2006/relationships/slide" Target="slides/slide16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Light-bold.fntdata"/><Relationship Id="rId30" Type="http://schemas.openxmlformats.org/officeDocument/2006/relationships/font" Target="fonts/MontserratLight-regular.fntdata"/><Relationship Id="rId11" Type="http://schemas.openxmlformats.org/officeDocument/2006/relationships/slide" Target="slides/slide6.xml"/><Relationship Id="rId33" Type="http://schemas.openxmlformats.org/officeDocument/2006/relationships/font" Target="fonts/MontserratLight-bold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Light-italic.fntdata"/><Relationship Id="rId13" Type="http://schemas.openxmlformats.org/officeDocument/2006/relationships/slide" Target="slides/slide8.xml"/><Relationship Id="rId35" Type="http://schemas.openxmlformats.org/officeDocument/2006/relationships/font" Target="fonts/HelveticaNeue-bold.fntdata"/><Relationship Id="rId12" Type="http://schemas.openxmlformats.org/officeDocument/2006/relationships/slide" Target="slides/slide7.xml"/><Relationship Id="rId34" Type="http://schemas.openxmlformats.org/officeDocument/2006/relationships/font" Target="fonts/HelveticaNeue-regular.fntdata"/><Relationship Id="rId15" Type="http://schemas.openxmlformats.org/officeDocument/2006/relationships/slide" Target="slides/slide10.xml"/><Relationship Id="rId37" Type="http://schemas.openxmlformats.org/officeDocument/2006/relationships/font" Target="fonts/HelveticaNeue-bold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-italic.fntdata"/><Relationship Id="rId17" Type="http://schemas.openxmlformats.org/officeDocument/2006/relationships/slide" Target="slides/slide12.xml"/><Relationship Id="rId39" Type="http://schemas.openxmlformats.org/officeDocument/2006/relationships/font" Target="fonts/HelveticaNeueLight-bold.fntdata"/><Relationship Id="rId16" Type="http://schemas.openxmlformats.org/officeDocument/2006/relationships/slide" Target="slides/slide11.xml"/><Relationship Id="rId38" Type="http://schemas.openxmlformats.org/officeDocument/2006/relationships/font" Target="fonts/HelveticaNeueLigh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4034649" cy="352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272336" y="0"/>
            <a:ext cx="4034649" cy="352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74988" y="877888"/>
            <a:ext cx="3159125" cy="2370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0910" y="3380469"/>
            <a:ext cx="7447280" cy="2764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670743"/>
            <a:ext cx="4034649" cy="352358"/>
          </a:xfrm>
          <a:prstGeom prst="rect">
            <a:avLst/>
          </a:prstGeom>
          <a:noFill/>
          <a:ln>
            <a:noFill/>
          </a:ln>
        </p:spPr>
        <p:txBody>
          <a:bodyPr anchorCtr="0" anchor="b" bIns="45925" lIns="91850" spcFirstLastPara="1" rIns="91850" wrap="square" tIns="459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272336" y="6670743"/>
            <a:ext cx="4034649" cy="352358"/>
          </a:xfrm>
          <a:prstGeom prst="rect">
            <a:avLst/>
          </a:prstGeom>
          <a:noFill/>
          <a:ln>
            <a:noFill/>
          </a:ln>
        </p:spPr>
        <p:txBody>
          <a:bodyPr anchorCtr="0" anchor="b" bIns="45925" lIns="91850" spcFirstLastPara="1" rIns="91850" wrap="square" tIns="45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3074988" y="877888"/>
            <a:ext cx="3159125" cy="2370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930910" y="3380469"/>
            <a:ext cx="7447280" cy="2764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Today we present our project on detecting urban food deserts using spatial co-location mining.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Instead of using simple proximity measures, we frame food deserts as a spatial pattern mining problem.</a:t>
            </a:r>
            <a:endParaRPr/>
          </a:p>
        </p:txBody>
      </p:sp>
      <p:sp>
        <p:nvSpPr>
          <p:cNvPr id="61" name="Google Shape;61;p1:notes"/>
          <p:cNvSpPr txBox="1"/>
          <p:nvPr>
            <p:ph idx="12" type="sldNum"/>
          </p:nvPr>
        </p:nvSpPr>
        <p:spPr>
          <a:xfrm>
            <a:off x="5272336" y="6670743"/>
            <a:ext cx="4034649" cy="352358"/>
          </a:xfrm>
          <a:prstGeom prst="rect">
            <a:avLst/>
          </a:prstGeom>
          <a:noFill/>
          <a:ln>
            <a:noFill/>
          </a:ln>
        </p:spPr>
        <p:txBody>
          <a:bodyPr anchorCtr="0" anchor="b" bIns="45925" lIns="91850" spcFirstLastPara="1" rIns="91850" wrap="square" tIns="45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074988" y="877888"/>
            <a:ext cx="3159125" cy="2370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930910" y="3380469"/>
            <a:ext cx="7447280" cy="2764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First, let me explain how food deserts are traditionally identified.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 the United States, they are typically defined using distance thresholds —for example, people living more than 1 mile in urban areas or 10 miles in rural areas from a supermarket.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left map illustrates this traditional distance-based approach.</a:t>
            </a:r>
            <a:br>
              <a:rPr lang="en-US"/>
            </a:br>
            <a:r>
              <a:rPr lang="en-US"/>
              <a:t>Accessibility is determined by whether a grocery store falls within a fixed buffer radius.</a:t>
            </a:r>
            <a:br>
              <a:rPr lang="en-US"/>
            </a:br>
            <a:r>
              <a:rPr lang="en-US"/>
              <a:t>If it does not, the area may be classified as a food desert.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However, this approach only measures proximity.</a:t>
            </a:r>
            <a:br>
              <a:rPr lang="en-US"/>
            </a:br>
            <a:r>
              <a:rPr lang="en-US"/>
              <a:t> It does not capture the overall spatial structure of food environments.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The right map demonstrates our alternative idea is spatial co-location patterns.</a:t>
            </a:r>
            <a:br>
              <a:rPr lang="en-US"/>
            </a:br>
            <a:r>
              <a:rPr lang="en-US"/>
              <a:t> Instead of simply asking whether a grocery store is nearby, we examine how different types of food outlets — such as fast-food restaurants, convenience stores, and grocery stores — cluster or dominate within a given radius R.</a:t>
            </a:r>
            <a:endParaRPr/>
          </a:p>
        </p:txBody>
      </p:sp>
      <p:sp>
        <p:nvSpPr>
          <p:cNvPr id="68" name="Google Shape;68;p2:notes"/>
          <p:cNvSpPr txBox="1"/>
          <p:nvPr>
            <p:ph idx="12" type="sldNum"/>
          </p:nvPr>
        </p:nvSpPr>
        <p:spPr>
          <a:xfrm>
            <a:off x="5272336" y="6670743"/>
            <a:ext cx="4034649" cy="352358"/>
          </a:xfrm>
          <a:prstGeom prst="rect">
            <a:avLst/>
          </a:prstGeom>
          <a:noFill/>
          <a:ln>
            <a:noFill/>
          </a:ln>
        </p:spPr>
        <p:txBody>
          <a:bodyPr anchorCtr="0" anchor="b" bIns="45925" lIns="91850" spcFirstLastPara="1" rIns="91850" wrap="square" tIns="45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930910" y="3380469"/>
            <a:ext cx="7447280" cy="2764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Let me now explain the societal motivation behind this project.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Food access inequality is one of the major urban challenges of our time.</a:t>
            </a:r>
            <a:br>
              <a:rPr lang="en-US"/>
            </a:br>
            <a:r>
              <a:rPr lang="en-US"/>
              <a:t> When access to healthy and affordable food is limited, the risks of obesity, diabetes, and other chronic diseases increase significantly.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As shown in the article on the right, nearly 19 million people in the United States live in food deserts.</a:t>
            </a:r>
            <a:br>
              <a:rPr lang="en-US"/>
            </a:br>
            <a:r>
              <a:rPr lang="en-US"/>
              <a:t> This means that millions of individuals do not have reliable access to fresh and nutritious food.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Furthermore, USDA data indicates that adults in food-insecure households experience higher rates of chronic conditions such as diabetes and hypertension.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 particular, low-income neighborhoods often face systematic underrepresentation of grocery stores, while unhealthy food outlets are more prevalent.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Therefore, we believe that accurately detecting structural imbalance in food environments is essential for improving public policy and promoting community health.</a:t>
            </a:r>
            <a:br>
              <a:rPr lang="en-US"/>
            </a:br>
            <a:r>
              <a:rPr lang="en-US"/>
              <a:t> For this reason, we chose this topic for our project.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3074988" y="877888"/>
            <a:ext cx="3159125" cy="2370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bf7c4c971_0_4:notes"/>
          <p:cNvSpPr/>
          <p:nvPr>
            <p:ph idx="2" type="sldImg"/>
          </p:nvPr>
        </p:nvSpPr>
        <p:spPr>
          <a:xfrm>
            <a:off x="3074988" y="877888"/>
            <a:ext cx="3159000" cy="23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cbf7c4c971_0_4:notes"/>
          <p:cNvSpPr txBox="1"/>
          <p:nvPr>
            <p:ph idx="1" type="body"/>
          </p:nvPr>
        </p:nvSpPr>
        <p:spPr>
          <a:xfrm>
            <a:off x="930910" y="3380469"/>
            <a:ext cx="74472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Our project relies on three key components.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First, we use geolocated food outlet data to compute spatial proximity.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Second, we use category labels to distinguish grocery stores, fast-food, and convenience stores.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Third, we define spatial neighborhoods to assign interpretable regional results.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Finally, we introduce a radius parameter R to formally define local interaction scale.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Our goal is to identify neighborhoods where grocery stores are scarce while fast-food and convenience outlets dominate.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Unlike traditional definitions based only on distance thresholds, we reinterpret food deserts as a structural imbalance in spatial interactions.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There are several methodological challenges.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Spatial data is continuous, so we must explicitly define neighborhoods.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Results may be sensitive to the choice of radius R.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And urban density differences can affect co-location measures.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cbf7c4c971_0_4:notes"/>
          <p:cNvSpPr txBox="1"/>
          <p:nvPr>
            <p:ph idx="12" type="sldNum"/>
          </p:nvPr>
        </p:nvSpPr>
        <p:spPr>
          <a:xfrm>
            <a:off x="5272336" y="6670743"/>
            <a:ext cx="4034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925" lIns="91850" spcFirstLastPara="1" rIns="91850" wrap="square" tIns="45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930910" y="3380469"/>
            <a:ext cx="7447280" cy="2764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At the beginning, we briefly introduced food deserts.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Here, I clarify the concept more precisely.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 food desert is not just about distance to supermarkets.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It often reflects a structural imbalance —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where grocery stores are scarce while fast-food or convenience stores are dense.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So spatial composition matters, not just proximity.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Traditional maps use distance thresholds, such as no supermarket within one mile.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While this captures accessibility, it ignores the overall mix of food outlets.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To address this, we introduce the concept of a Spatial Neighborhood, denoted by R.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R defines the local interaction scale.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It determines which outlets are considered neighbors.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As shown in the figure, increasing R from 300m to 500m increases detected neighbors.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This demonstrates that spatial patterns are sensitive to neighborhood scale.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Next, to quantify co-location strength, we use the Participation Index, or PI.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First, we compute the Participation Ratio —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the proportion of outlets of a given type that participate in a pattern.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Then, the Participation Index is defined as the minimum participation ratio across types.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This ensures that a pattern is strong only when all categories participate substantially.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Therefore, a high PI indicates balanced and strong spatial coupling between outlet types.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:notes"/>
          <p:cNvSpPr/>
          <p:nvPr>
            <p:ph idx="2" type="sldImg"/>
          </p:nvPr>
        </p:nvSpPr>
        <p:spPr>
          <a:xfrm>
            <a:off x="3074988" y="877888"/>
            <a:ext cx="3159125" cy="23701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4a9603fbc_0_0:notes"/>
          <p:cNvSpPr txBox="1"/>
          <p:nvPr>
            <p:ph idx="1" type="body"/>
          </p:nvPr>
        </p:nvSpPr>
        <p:spPr>
          <a:xfrm>
            <a:off x="930910" y="3380469"/>
            <a:ext cx="74472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Now, let me discuss the key challenges of our approach.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First, spatial data is continuous.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Unlike market-basket data, we do not naturally have predefined transactions.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Therefore, we must explicitly define neighborhoods using a radius parameter 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Second, the choice of R directly affects the results.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A small radius captures very local clusters,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while a larger radius may reveal broader patterns.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So our analysis is sensitive to spatial scale.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Third, urban areas are highly imbalanced.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Downtown regions have dense points of interest,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while residential areas may be sparse.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This imbalance can influence co-location measurements.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Finally, we must capture not only co-location patterns,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but also absence patterns — or anti-co-location.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For example, areas where fast-food outlets exist but grocery stores are missing.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These absence patterns are especially important for identifying potential food deserts.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c4a9603fbc_0_0:notes"/>
          <p:cNvSpPr/>
          <p:nvPr>
            <p:ph idx="2" type="sldImg"/>
          </p:nvPr>
        </p:nvSpPr>
        <p:spPr>
          <a:xfrm>
            <a:off x="3074988" y="877888"/>
            <a:ext cx="3159000" cy="23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bf7c4c971_0_12:notes"/>
          <p:cNvSpPr txBox="1"/>
          <p:nvPr>
            <p:ph idx="1" type="body"/>
          </p:nvPr>
        </p:nvSpPr>
        <p:spPr>
          <a:xfrm>
            <a:off x="930910" y="3380469"/>
            <a:ext cx="74472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Looking at related work and how it falls short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Food deserts</a:t>
            </a:r>
            <a:r>
              <a:rPr lang="en-US" sz="1500"/>
              <a:t> are often defined using </a:t>
            </a:r>
            <a:r>
              <a:rPr b="1" lang="en-US" sz="1500"/>
              <a:t>distance- or buffer-based measures</a:t>
            </a:r>
            <a:r>
              <a:rPr lang="en-US" sz="1500"/>
              <a:t>, which focus on </a:t>
            </a:r>
            <a:r>
              <a:rPr b="1" lang="en-US" sz="1500"/>
              <a:t>physical proximity</a:t>
            </a:r>
            <a:r>
              <a:rPr lang="en-US" sz="1500"/>
              <a:t> to grocery stores.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For example, an area may be classified as a food desert if there is no supermarket within one kilometer.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While these approaches are useful for </a:t>
            </a:r>
            <a:r>
              <a:rPr b="1" lang="en-US" sz="1500"/>
              <a:t>measuring access</a:t>
            </a:r>
            <a:r>
              <a:rPr lang="en-US" sz="1500"/>
              <a:t>, they do not fully capture the </a:t>
            </a:r>
            <a:r>
              <a:rPr b="1" lang="en-US" sz="1500"/>
              <a:t>overall composition</a:t>
            </a:r>
            <a:r>
              <a:rPr lang="en-US" sz="1500"/>
              <a:t> of the food environment/where food is located.</a:t>
            </a:r>
            <a:endParaRPr sz="15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So the next question is whether existing work considers </a:t>
            </a:r>
            <a:r>
              <a:rPr b="1" lang="en-US" sz="1500"/>
              <a:t>spatial composition patterns</a:t>
            </a:r>
            <a:r>
              <a:rPr lang="en-US" sz="1500"/>
              <a:t>.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In other words, instead of simply asking, ‘Is there a grocery store nearby?’, do they examine the </a:t>
            </a:r>
            <a:r>
              <a:rPr b="1" lang="en-US" sz="1500"/>
              <a:t>balance between grocery stores and fast-food outlets</a:t>
            </a:r>
            <a:r>
              <a:rPr lang="en-US" sz="1500"/>
              <a:t> in a neighborhood?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For example, imagine two neighborhoods. Neighborhood A has </a:t>
            </a:r>
            <a:r>
              <a:rPr b="1" lang="en-US" sz="1500"/>
              <a:t>one supermarket</a:t>
            </a:r>
            <a:r>
              <a:rPr lang="en-US" sz="1500"/>
              <a:t> and one </a:t>
            </a:r>
            <a:r>
              <a:rPr b="1" lang="en-US" sz="1500"/>
              <a:t>fast-food restaurant</a:t>
            </a:r>
            <a:r>
              <a:rPr lang="en-US" sz="1500"/>
              <a:t>.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Neighborhood B has </a:t>
            </a:r>
            <a:r>
              <a:rPr b="1" lang="en-US" sz="1500"/>
              <a:t>one supermarket</a:t>
            </a:r>
            <a:r>
              <a:rPr lang="en-US" sz="1500"/>
              <a:t> and </a:t>
            </a:r>
            <a:r>
              <a:rPr b="1" lang="en-US" sz="1500"/>
              <a:t>eight fast-food restaurants</a:t>
            </a:r>
            <a:r>
              <a:rPr lang="en-US" sz="1500"/>
              <a:t>.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Distance-based definitions may classify both neighborhoods as having access. However, the structural food environment is clearly different.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Some studies have explored </a:t>
            </a:r>
            <a:r>
              <a:rPr b="1" lang="en-US" sz="1500"/>
              <a:t>clustering</a:t>
            </a:r>
            <a:r>
              <a:rPr lang="en-US" sz="1500"/>
              <a:t> or </a:t>
            </a:r>
            <a:r>
              <a:rPr b="1" lang="en-US" sz="1500"/>
              <a:t>spatial composition</a:t>
            </a:r>
            <a:r>
              <a:rPr lang="en-US" sz="1500"/>
              <a:t> ideas.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However, few approaches explicitly </a:t>
            </a:r>
            <a:r>
              <a:rPr b="1" lang="en-US" sz="1500"/>
              <a:t>model anti-co-location patterns</a:t>
            </a:r>
            <a:r>
              <a:rPr lang="en-US" sz="1500"/>
              <a:t> such as </a:t>
            </a:r>
            <a:r>
              <a:rPr b="1" lang="en-US" sz="1500"/>
              <a:t>areas where fast-food outlets are concentrated but grocery stores are absent</a:t>
            </a:r>
            <a:r>
              <a:rPr lang="en-US" sz="1500"/>
              <a:t>. Our project addresses this gap </a:t>
            </a:r>
            <a:endParaRPr/>
          </a:p>
        </p:txBody>
      </p:sp>
      <p:sp>
        <p:nvSpPr>
          <p:cNvPr id="131" name="Google Shape;131;g3cbf7c4c971_0_12:notes"/>
          <p:cNvSpPr/>
          <p:nvPr>
            <p:ph idx="2" type="sldImg"/>
          </p:nvPr>
        </p:nvSpPr>
        <p:spPr>
          <a:xfrm>
            <a:off x="3074988" y="877888"/>
            <a:ext cx="3159000" cy="23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bf7c4c971_0_17:notes"/>
          <p:cNvSpPr txBox="1"/>
          <p:nvPr>
            <p:ph idx="1" type="body"/>
          </p:nvPr>
        </p:nvSpPr>
        <p:spPr>
          <a:xfrm>
            <a:off x="930910" y="3380469"/>
            <a:ext cx="74472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/>
              <a:t>So to get into our approach: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First, we start with </a:t>
            </a:r>
            <a:r>
              <a:rPr b="1" lang="en-US" sz="1500"/>
              <a:t>data representation</a:t>
            </a:r>
            <a:r>
              <a:rPr lang="en-US" sz="1500"/>
              <a:t>, where we collect </a:t>
            </a:r>
            <a:r>
              <a:rPr b="1" lang="en-US" sz="1500"/>
              <a:t>point-level POIs</a:t>
            </a:r>
            <a:r>
              <a:rPr lang="en-US" sz="1500"/>
              <a:t> and </a:t>
            </a:r>
            <a:r>
              <a:rPr b="1" lang="en-US" sz="1500"/>
              <a:t>standardize</a:t>
            </a:r>
            <a:r>
              <a:rPr lang="en-US" sz="1500"/>
              <a:t> their categories.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For example, we would </a:t>
            </a:r>
            <a:r>
              <a:rPr b="1" lang="en-US" sz="1500"/>
              <a:t>collect locations of supermarkets</a:t>
            </a:r>
            <a:r>
              <a:rPr lang="en-US" sz="1500"/>
              <a:t>, fast-food outlets, and convenience stores in St. Paul and </a:t>
            </a:r>
            <a:r>
              <a:rPr b="1" lang="en-US" sz="1500"/>
              <a:t>categorize</a:t>
            </a:r>
            <a:r>
              <a:rPr lang="en-US" sz="1500"/>
              <a:t> them into consistent event types.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Second, we </a:t>
            </a:r>
            <a:r>
              <a:rPr b="1" lang="en-US" sz="1500"/>
              <a:t>construct spatial neighborhoods</a:t>
            </a:r>
            <a:r>
              <a:rPr lang="en-US" sz="1500"/>
              <a:t> by defining a </a:t>
            </a:r>
            <a:r>
              <a:rPr b="1" lang="en-US" sz="1500"/>
              <a:t>radius-based local context</a:t>
            </a:r>
            <a:r>
              <a:rPr lang="en-US" sz="1500"/>
              <a:t>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For instance, we </a:t>
            </a:r>
            <a:r>
              <a:rPr b="1" lang="en-US" sz="1500"/>
              <a:t>define a 400-meter radius</a:t>
            </a:r>
            <a:r>
              <a:rPr lang="en-US" sz="1500"/>
              <a:t> and treat all food outlets within that distance as belonging to the </a:t>
            </a:r>
            <a:r>
              <a:rPr b="1" lang="en-US" sz="1500"/>
              <a:t>same local neighborhood</a:t>
            </a:r>
            <a:r>
              <a:rPr lang="en-US" sz="1500"/>
              <a:t>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Third, we apply </a:t>
            </a:r>
            <a:r>
              <a:rPr b="1" lang="en-US" sz="1500"/>
              <a:t>co-location pattern mining</a:t>
            </a:r>
            <a:r>
              <a:rPr lang="en-US" sz="1500"/>
              <a:t> using </a:t>
            </a:r>
            <a:r>
              <a:rPr b="1" lang="en-US" sz="1500"/>
              <a:t>Participation Index</a:t>
            </a:r>
            <a:r>
              <a:rPr lang="en-US" sz="1500"/>
              <a:t> to quantify spatial relationships.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For example, we calculate how often </a:t>
            </a:r>
            <a:r>
              <a:rPr b="1" lang="en-US" sz="1500"/>
              <a:t>fast-food outlets</a:t>
            </a:r>
            <a:r>
              <a:rPr lang="en-US" sz="1500"/>
              <a:t> and </a:t>
            </a:r>
            <a:r>
              <a:rPr b="1" lang="en-US" sz="1500"/>
              <a:t>grocery stores</a:t>
            </a:r>
            <a:r>
              <a:rPr lang="en-US" sz="1500"/>
              <a:t> </a:t>
            </a:r>
            <a:r>
              <a:rPr b="1" lang="en-US" sz="1500"/>
              <a:t>appear together</a:t>
            </a:r>
            <a:r>
              <a:rPr lang="en-US" sz="1500"/>
              <a:t> within the same neighborhood.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Fourth, we extend this to anti-co-location detection to capture </a:t>
            </a:r>
            <a:r>
              <a:rPr b="1" lang="en-US" sz="1500"/>
              <a:t>structural absence patterns</a:t>
            </a:r>
            <a:r>
              <a:rPr lang="en-US" sz="1500"/>
              <a:t>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Where we identify areas where </a:t>
            </a:r>
            <a:r>
              <a:rPr b="1" lang="en-US" sz="1500"/>
              <a:t>fast-food outlets</a:t>
            </a:r>
            <a:r>
              <a:rPr lang="en-US" sz="1500"/>
              <a:t> are frequently </a:t>
            </a:r>
            <a:r>
              <a:rPr b="1" lang="en-US" sz="1500"/>
              <a:t>present</a:t>
            </a:r>
            <a:r>
              <a:rPr lang="en-US" sz="1500"/>
              <a:t> but </a:t>
            </a:r>
            <a:r>
              <a:rPr b="1" lang="en-US" sz="1500"/>
              <a:t>grocery stores</a:t>
            </a:r>
            <a:r>
              <a:rPr lang="en-US" sz="1500"/>
              <a:t> are consistently </a:t>
            </a:r>
            <a:r>
              <a:rPr b="1" lang="en-US" sz="1500"/>
              <a:t>missing</a:t>
            </a:r>
            <a:r>
              <a:rPr lang="en-US" sz="1500"/>
              <a:t>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Next, we integrate </a:t>
            </a:r>
            <a:r>
              <a:rPr b="1" lang="en-US" sz="1500"/>
              <a:t>hotspot analysis</a:t>
            </a:r>
            <a:r>
              <a:rPr lang="en-US" sz="1500"/>
              <a:t> to differentiate between</a:t>
            </a:r>
            <a:r>
              <a:rPr b="1" lang="en-US" sz="1500"/>
              <a:t> density effects</a:t>
            </a:r>
            <a:r>
              <a:rPr lang="en-US" sz="1500"/>
              <a:t> and </a:t>
            </a:r>
            <a:r>
              <a:rPr b="1" lang="en-US" sz="1500"/>
              <a:t>relational imbalance</a:t>
            </a:r>
            <a:r>
              <a:rPr lang="en-US" sz="1500"/>
              <a:t>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So like an area may have </a:t>
            </a:r>
            <a:r>
              <a:rPr b="1" lang="en-US" sz="1500"/>
              <a:t>many fast-food outlets </a:t>
            </a:r>
            <a:r>
              <a:rPr lang="en-US" sz="1500"/>
              <a:t>overall, but </a:t>
            </a:r>
            <a:r>
              <a:rPr b="1" lang="en-US" sz="1500"/>
              <a:t>hotspot analysis</a:t>
            </a:r>
            <a:r>
              <a:rPr lang="en-US" sz="1500"/>
              <a:t> helps us determine whether that </a:t>
            </a:r>
            <a:r>
              <a:rPr b="1" lang="en-US" sz="1500"/>
              <a:t>concentration</a:t>
            </a:r>
            <a:r>
              <a:rPr lang="en-US" sz="1500"/>
              <a:t> is </a:t>
            </a:r>
            <a:r>
              <a:rPr b="1" lang="en-US" sz="1500"/>
              <a:t>statistically significant</a:t>
            </a:r>
            <a:r>
              <a:rPr lang="en-US" sz="1500"/>
              <a:t>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In the end we would build a </a:t>
            </a:r>
            <a:r>
              <a:rPr b="1" lang="en-US" sz="1500"/>
              <a:t>spatial classification framework</a:t>
            </a:r>
            <a:r>
              <a:rPr lang="en-US" sz="1500"/>
              <a:t> to create interpretable </a:t>
            </a:r>
            <a:r>
              <a:rPr b="1" lang="en-US" sz="1500"/>
              <a:t>food-environment categories</a:t>
            </a:r>
            <a:r>
              <a:rPr lang="en-US" sz="1500"/>
              <a:t>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For example, we </a:t>
            </a:r>
            <a:r>
              <a:rPr b="1" lang="en-US" sz="1500"/>
              <a:t>classify neighborhoods</a:t>
            </a:r>
            <a:r>
              <a:rPr lang="en-US" sz="1500"/>
              <a:t> into categories such as Balanced Service, Fast-Food Dominant, Grocery Desert, or True Food Desert</a:t>
            </a:r>
            <a:r>
              <a:rPr lang="en-US" sz="1500"/>
              <a:t>.</a:t>
            </a:r>
            <a:endParaRPr sz="1500"/>
          </a:p>
        </p:txBody>
      </p:sp>
      <p:sp>
        <p:nvSpPr>
          <p:cNvPr id="157" name="Google Shape;157;g3cbf7c4c971_0_17:notes"/>
          <p:cNvSpPr/>
          <p:nvPr>
            <p:ph idx="2" type="sldImg"/>
          </p:nvPr>
        </p:nvSpPr>
        <p:spPr>
          <a:xfrm>
            <a:off x="3074988" y="877888"/>
            <a:ext cx="3159000" cy="23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bf7c4c971_0_45:notes"/>
          <p:cNvSpPr txBox="1"/>
          <p:nvPr>
            <p:ph idx="1" type="body"/>
          </p:nvPr>
        </p:nvSpPr>
        <p:spPr>
          <a:xfrm>
            <a:off x="930910" y="3380469"/>
            <a:ext cx="74472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/>
              <a:t>For our validation methodology, we will validate our framework in two ways.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First, we use a </a:t>
            </a:r>
            <a:r>
              <a:rPr b="1" lang="en-US" sz="1500"/>
              <a:t>controlled synthetic example</a:t>
            </a:r>
            <a:r>
              <a:rPr lang="en-US" sz="1500"/>
              <a:t>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We create </a:t>
            </a:r>
            <a:r>
              <a:rPr b="1" lang="en-US" sz="1500"/>
              <a:t>simple artificial regions</a:t>
            </a:r>
            <a:r>
              <a:rPr lang="en-US" sz="1500"/>
              <a:t> and design three patterns: </a:t>
            </a:r>
            <a:r>
              <a:rPr b="1" lang="en-US" sz="1500"/>
              <a:t>a balanced area</a:t>
            </a:r>
            <a:r>
              <a:rPr lang="en-US" sz="1500"/>
              <a:t>, a </a:t>
            </a:r>
            <a:r>
              <a:rPr b="1" lang="en-US" sz="1500"/>
              <a:t>fast-food dominant area</a:t>
            </a:r>
            <a:r>
              <a:rPr lang="en-US" sz="1500"/>
              <a:t>, and a </a:t>
            </a:r>
            <a:r>
              <a:rPr b="1" lang="en-US" sz="1500"/>
              <a:t>grocery absence area</a:t>
            </a:r>
            <a:r>
              <a:rPr lang="en-US" sz="1500"/>
              <a:t>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Since we know the </a:t>
            </a:r>
            <a:r>
              <a:rPr b="1" lang="en-US" sz="1500"/>
              <a:t>ground truth</a:t>
            </a:r>
            <a:r>
              <a:rPr lang="en-US" sz="1500"/>
              <a:t> in these synthetic cases, we can directly </a:t>
            </a:r>
            <a:r>
              <a:rPr b="1" lang="en-US" sz="1500"/>
              <a:t>verify</a:t>
            </a:r>
            <a:r>
              <a:rPr lang="en-US" sz="1500"/>
              <a:t> whether our method </a:t>
            </a:r>
            <a:r>
              <a:rPr b="1" lang="en-US" sz="1500"/>
              <a:t>correctly classifies</a:t>
            </a:r>
            <a:r>
              <a:rPr lang="en-US" sz="1500"/>
              <a:t> each region.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Second, we apply our framework to </a:t>
            </a:r>
            <a:r>
              <a:rPr b="1" lang="en-US" sz="1500"/>
              <a:t>real St. Paul POI data</a:t>
            </a:r>
            <a:r>
              <a:rPr lang="en-US" sz="1500"/>
              <a:t>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To analyze spatial scale sensitivity, we test </a:t>
            </a:r>
            <a:r>
              <a:rPr b="1" lang="en-US" sz="1500"/>
              <a:t>different neighborhood radius values</a:t>
            </a:r>
            <a:r>
              <a:rPr lang="en-US" sz="1500"/>
              <a:t>, such as 300, 400, and 500 meters.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We also compare our results with a </a:t>
            </a:r>
            <a:r>
              <a:rPr b="1" lang="en-US" sz="1500"/>
              <a:t>traditional distance-based buffer model</a:t>
            </a:r>
            <a:r>
              <a:rPr lang="en-US" sz="1500"/>
              <a:t>, such as the </a:t>
            </a:r>
            <a:r>
              <a:rPr b="1" lang="en-US" sz="1500"/>
              <a:t>one-mile supermarket rule</a:t>
            </a:r>
            <a:r>
              <a:rPr lang="en-US" sz="1500"/>
              <a:t> commonly used in public health studies.</a:t>
            </a:r>
            <a:endParaRPr sz="1500"/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-US" sz="1500"/>
              <a:t>where urban areas are low-access if 500+ppl /33% of pop is &gt;1mi from supermarket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For a more quantitative evaluation, we will use precision and recall.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en-US" sz="1500"/>
              <a:t>Precision</a:t>
            </a:r>
            <a:r>
              <a:rPr lang="en-US" sz="1500"/>
              <a:t> evaluates how many </a:t>
            </a:r>
            <a:r>
              <a:rPr b="1" lang="en-US" sz="1500"/>
              <a:t>detected food deserts</a:t>
            </a:r>
            <a:r>
              <a:rPr lang="en-US" sz="1500"/>
              <a:t> are </a:t>
            </a:r>
            <a:r>
              <a:rPr b="1" lang="en-US" sz="1500"/>
              <a:t>truly imbalanced areas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while </a:t>
            </a:r>
            <a:r>
              <a:rPr b="1" lang="en-US" sz="1500"/>
              <a:t>recall</a:t>
            </a:r>
            <a:r>
              <a:rPr lang="en-US" sz="1500"/>
              <a:t> measures how many </a:t>
            </a:r>
            <a:r>
              <a:rPr b="1" lang="en-US" sz="1500"/>
              <a:t>truly imbalanced areas</a:t>
            </a:r>
            <a:r>
              <a:rPr lang="en-US" sz="1500"/>
              <a:t> we </a:t>
            </a:r>
            <a:r>
              <a:rPr b="1" lang="en-US" sz="1500"/>
              <a:t>successfully</a:t>
            </a:r>
            <a:r>
              <a:rPr lang="en-US" sz="1500"/>
              <a:t> identify.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Finally, we analyze the </a:t>
            </a:r>
            <a:r>
              <a:rPr b="1" lang="en-US" sz="1500"/>
              <a:t>stability of our results</a:t>
            </a:r>
            <a:r>
              <a:rPr lang="en-US" sz="1500"/>
              <a:t> under different </a:t>
            </a:r>
            <a:r>
              <a:rPr b="1" lang="en-US" sz="1500"/>
              <a:t>parameter settings</a:t>
            </a:r>
            <a:r>
              <a:rPr lang="en-US" sz="1500"/>
              <a:t>, including </a:t>
            </a:r>
            <a:r>
              <a:rPr b="1" lang="en-US" sz="1500"/>
              <a:t>changes</a:t>
            </a:r>
            <a:r>
              <a:rPr lang="en-US" sz="1500"/>
              <a:t> in </a:t>
            </a:r>
            <a:r>
              <a:rPr b="1" lang="en-US" sz="1500"/>
              <a:t>neighborhood radius</a:t>
            </a:r>
            <a:r>
              <a:rPr lang="en-US" sz="1500"/>
              <a:t> and the </a:t>
            </a:r>
            <a:r>
              <a:rPr b="1" lang="en-US" sz="1500"/>
              <a:t>PI threshold</a:t>
            </a:r>
            <a:r>
              <a:rPr lang="en-US" sz="1500"/>
              <a:t>.</a:t>
            </a:r>
            <a:endParaRPr sz="1500"/>
          </a:p>
        </p:txBody>
      </p:sp>
      <p:sp>
        <p:nvSpPr>
          <p:cNvPr id="170" name="Google Shape;170;g3cbf7c4c971_0_45:notes"/>
          <p:cNvSpPr/>
          <p:nvPr>
            <p:ph idx="2" type="sldImg"/>
          </p:nvPr>
        </p:nvSpPr>
        <p:spPr>
          <a:xfrm>
            <a:off x="3074988" y="877888"/>
            <a:ext cx="3159000" cy="23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4a8ed0b88_0_0:notes"/>
          <p:cNvSpPr/>
          <p:nvPr>
            <p:ph idx="2" type="sldImg"/>
          </p:nvPr>
        </p:nvSpPr>
        <p:spPr>
          <a:xfrm>
            <a:off x="3074988" y="877888"/>
            <a:ext cx="3159000" cy="23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4a8ed0b88_0_0:notes"/>
          <p:cNvSpPr txBox="1"/>
          <p:nvPr>
            <p:ph idx="1" type="body"/>
          </p:nvPr>
        </p:nvSpPr>
        <p:spPr>
          <a:xfrm>
            <a:off x="930910" y="3380469"/>
            <a:ext cx="7447200" cy="2764800"/>
          </a:xfrm>
          <a:prstGeom prst="rect">
            <a:avLst/>
          </a:prstGeom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So basically we propose an idea for detecting food deserts using spatial patterns.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Instead of simply </a:t>
            </a:r>
            <a:r>
              <a:rPr b="1" lang="en-US" sz="1500"/>
              <a:t>measuring</a:t>
            </a:r>
            <a:r>
              <a:rPr lang="en-US" sz="1500"/>
              <a:t> the </a:t>
            </a:r>
            <a:r>
              <a:rPr b="1" lang="en-US" sz="1500"/>
              <a:t>distance to grocery stores</a:t>
            </a:r>
            <a:r>
              <a:rPr lang="en-US" sz="1500"/>
              <a:t>, we suggested analyzing how </a:t>
            </a:r>
            <a:r>
              <a:rPr b="1" lang="en-US" sz="1500"/>
              <a:t>different services appear together in space</a:t>
            </a:r>
            <a:r>
              <a:rPr lang="en-US" sz="1500"/>
              <a:t>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By </a:t>
            </a:r>
            <a:r>
              <a:rPr b="1" lang="en-US" sz="1500"/>
              <a:t>combining hotspot analysis</a:t>
            </a:r>
            <a:r>
              <a:rPr lang="en-US" sz="1500"/>
              <a:t> with </a:t>
            </a:r>
            <a:r>
              <a:rPr b="1" lang="en-US" sz="1500"/>
              <a:t>co-location patterns</a:t>
            </a:r>
            <a:r>
              <a:rPr lang="en-US" sz="1500"/>
              <a:t>, we want to create a framework that can better identify which </a:t>
            </a:r>
            <a:r>
              <a:rPr b="1" lang="en-US" sz="1500"/>
              <a:t>areas are balanced</a:t>
            </a:r>
            <a:r>
              <a:rPr lang="en-US" sz="1500"/>
              <a:t> and which areas </a:t>
            </a:r>
            <a:r>
              <a:rPr b="1" lang="en-US" sz="1500"/>
              <a:t>lack access to healthy food</a:t>
            </a:r>
            <a:r>
              <a:rPr lang="en-US" sz="1500"/>
              <a:t>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For future work, we plan to include </a:t>
            </a:r>
            <a:r>
              <a:rPr b="1" lang="en-US" sz="1500"/>
              <a:t>more types of facilities</a:t>
            </a:r>
            <a:r>
              <a:rPr lang="en-US" sz="1500"/>
              <a:t>, </a:t>
            </a:r>
            <a:r>
              <a:rPr b="1" lang="en-US" sz="1500"/>
              <a:t>integrate socioeconomic layers</a:t>
            </a:r>
            <a:r>
              <a:rPr lang="en-US" sz="1500"/>
              <a:t> like income, transit access, or demographics, and extend the approach to </a:t>
            </a:r>
            <a:r>
              <a:rPr b="1" lang="en-US" sz="1500"/>
              <a:t>other cities</a:t>
            </a:r>
            <a:r>
              <a:rPr lang="en-US" sz="1500"/>
              <a:t> or look at how these </a:t>
            </a:r>
            <a:r>
              <a:rPr b="1" lang="en-US" sz="1500"/>
              <a:t>trends have changed over time</a:t>
            </a:r>
            <a:r>
              <a:rPr lang="en-US" sz="1500"/>
              <a:t>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We also aim to further improve the </a:t>
            </a:r>
            <a:r>
              <a:rPr b="1" lang="en-US" sz="1500"/>
              <a:t>stability</a:t>
            </a:r>
            <a:r>
              <a:rPr lang="en-US" sz="1500"/>
              <a:t> and </a:t>
            </a:r>
            <a:r>
              <a:rPr b="1" lang="en-US" sz="1500"/>
              <a:t>reliability</a:t>
            </a:r>
            <a:r>
              <a:rPr lang="en-US" sz="1500"/>
              <a:t> of this method.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c4a8ed0b88_0_0:notes"/>
          <p:cNvSpPr txBox="1"/>
          <p:nvPr>
            <p:ph idx="12" type="sldNum"/>
          </p:nvPr>
        </p:nvSpPr>
        <p:spPr>
          <a:xfrm>
            <a:off x="5272336" y="6670743"/>
            <a:ext cx="4034700" cy="352500"/>
          </a:xfrm>
          <a:prstGeom prst="rect">
            <a:avLst/>
          </a:prstGeom>
        </p:spPr>
        <p:txBody>
          <a:bodyPr anchorCtr="0" anchor="b" bIns="45925" lIns="91850" spcFirstLastPara="1" rIns="91850" wrap="square" tIns="45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bf7c4c971_0_58:notes"/>
          <p:cNvSpPr txBox="1"/>
          <p:nvPr>
            <p:ph idx="1" type="body"/>
          </p:nvPr>
        </p:nvSpPr>
        <p:spPr>
          <a:xfrm>
            <a:off x="930910" y="3380469"/>
            <a:ext cx="74472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Here is our overall project timeline.</a:t>
            </a:r>
            <a:endParaRPr/>
          </a:p>
        </p:txBody>
      </p:sp>
      <p:sp>
        <p:nvSpPr>
          <p:cNvPr id="186" name="Google Shape;186;g3cbf7c4c971_0_58:notes"/>
          <p:cNvSpPr/>
          <p:nvPr>
            <p:ph idx="2" type="sldImg"/>
          </p:nvPr>
        </p:nvSpPr>
        <p:spPr>
          <a:xfrm>
            <a:off x="3074988" y="877888"/>
            <a:ext cx="3159000" cy="23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bf7c4c971_0_63:notes"/>
          <p:cNvSpPr txBox="1"/>
          <p:nvPr>
            <p:ph idx="1" type="body"/>
          </p:nvPr>
        </p:nvSpPr>
        <p:spPr>
          <a:xfrm>
            <a:off x="930910" y="3380469"/>
            <a:ext cx="74472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any questions?</a:t>
            </a:r>
            <a:endParaRPr/>
          </a:p>
        </p:txBody>
      </p:sp>
      <p:sp>
        <p:nvSpPr>
          <p:cNvPr id="192" name="Google Shape;192;g3cbf7c4c971_0_63:notes"/>
          <p:cNvSpPr/>
          <p:nvPr>
            <p:ph idx="2" type="sldImg"/>
          </p:nvPr>
        </p:nvSpPr>
        <p:spPr>
          <a:xfrm>
            <a:off x="3074988" y="877888"/>
            <a:ext cx="3159000" cy="23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c0f702c63_0_55:notes"/>
          <p:cNvSpPr txBox="1"/>
          <p:nvPr>
            <p:ph idx="1" type="body"/>
          </p:nvPr>
        </p:nvSpPr>
        <p:spPr>
          <a:xfrm>
            <a:off x="930910" y="3380469"/>
            <a:ext cx="74472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thanky you!</a:t>
            </a:r>
            <a:endParaRPr/>
          </a:p>
        </p:txBody>
      </p:sp>
      <p:sp>
        <p:nvSpPr>
          <p:cNvPr id="197" name="Google Shape;197;g3cc0f702c63_0_55:notes"/>
          <p:cNvSpPr/>
          <p:nvPr>
            <p:ph idx="2" type="sldImg"/>
          </p:nvPr>
        </p:nvSpPr>
        <p:spPr>
          <a:xfrm>
            <a:off x="3074988" y="877888"/>
            <a:ext cx="3159000" cy="23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c75708078_0_2:notes"/>
          <p:cNvSpPr txBox="1"/>
          <p:nvPr>
            <p:ph idx="1" type="body"/>
          </p:nvPr>
        </p:nvSpPr>
        <p:spPr>
          <a:xfrm>
            <a:off x="930910" y="3380469"/>
            <a:ext cx="74472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At the beginning, we briefly introduced the concept of food deserts.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Now, in the Key Concepts section, I will explain it in more detail.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 food desert refers to areas with limited access to affordable and nutritious grocery options.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However, it is often characterized not only by low grocery access, but also by a relatively high density of fast-food and convenience stores.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Therefore, it reflects structural imbalance in the local food environment rather than simply distance to a supermarket.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 other words, not just proximity, but spatial composition matters.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For example, the map on the bottom right shows areas in the United States where residents have no car and no supermarket within one mile.</a:t>
            </a:r>
            <a:br>
              <a:rPr lang="en-US"/>
            </a:br>
            <a:r>
              <a:rPr lang="en-US"/>
              <a:t> This represents the traditional distance-based definition of food deserts.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While this approach captures physical accessibility, it does not account for the overall mix of food outlets in the area.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image above also highlights how food desert areas are identified geographically, but again, the classification is primarily based on access distance.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Our project extends this idea by examining the structural composition of food environments using spatial interaction patterns rather than relying solely on proximity.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cc75708078_0_2:notes"/>
          <p:cNvSpPr/>
          <p:nvPr>
            <p:ph idx="2" type="sldImg"/>
          </p:nvPr>
        </p:nvSpPr>
        <p:spPr>
          <a:xfrm>
            <a:off x="3074988" y="877888"/>
            <a:ext cx="3159000" cy="23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c75708078_0_9:notes"/>
          <p:cNvSpPr txBox="1"/>
          <p:nvPr>
            <p:ph idx="1" type="body"/>
          </p:nvPr>
        </p:nvSpPr>
        <p:spPr>
          <a:xfrm>
            <a:off x="930910" y="3380469"/>
            <a:ext cx="74472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Here, we introduce the concept of Spatial Neighborhood, denoted as 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 spatial neighborhood is a predefined geographic radius used to define local spatial interactions between food outlets.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 other words, it determines which outlets are considered neighbors of a given reference location.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Rather than looking at the entire city at once, we analyze spatial relationships within a limited local area defined by 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As you can see in the figure on the right, we select a single POI as a reference point.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When R is set to 300 meters, only two nearby outlets fall within the circular buffer and are considered neighbors.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However, when we increase R to 500 meters, more outlets are included within the buffer, and now five neighbors are detected.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clearly shows that simply changing the neighborhood radius can significantly alter the number of detected interactions.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Therefore, spatial patterns are highly sensitive to the choice of neighborhood scale.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/>
              <a:t>Selecting an appropriate R is not just a technical detail — it directly affects the structure of detected co-location patterns.</a:t>
            </a:r>
            <a:endParaRPr/>
          </a:p>
        </p:txBody>
      </p:sp>
      <p:sp>
        <p:nvSpPr>
          <p:cNvPr id="211" name="Google Shape;211;g3cc75708078_0_9:notes"/>
          <p:cNvSpPr/>
          <p:nvPr>
            <p:ph idx="2" type="sldImg"/>
          </p:nvPr>
        </p:nvSpPr>
        <p:spPr>
          <a:xfrm>
            <a:off x="3074988" y="877888"/>
            <a:ext cx="3159000" cy="23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c0f702c63_0_72:notes"/>
          <p:cNvSpPr txBox="1"/>
          <p:nvPr>
            <p:ph idx="1" type="body"/>
          </p:nvPr>
        </p:nvSpPr>
        <p:spPr>
          <a:xfrm>
            <a:off x="930910" y="3380469"/>
            <a:ext cx="74472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925" lIns="91850" spcFirstLastPara="1" rIns="91850" wrap="square" tIns="459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Now that we have defined the spatial neighborhood,</a:t>
            </a:r>
            <a:br>
              <a:rPr lang="en-US"/>
            </a:br>
            <a:r>
              <a:rPr lang="en-US"/>
              <a:t> we need a way to quantitatively measure how strongly different outlet types co-occur.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is where the Participation Index, or PI, comes in.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First, we compute the Participation Ratio.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Participation Ratio measures the proportion of instances of a given event type</a:t>
            </a:r>
            <a:br>
              <a:rPr lang="en-US"/>
            </a:br>
            <a:r>
              <a:rPr lang="en-US"/>
              <a:t> that actually participate in a co-location pattern.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Formally, it is defined as shown in the upper-right formula.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 other words,</a:t>
            </a:r>
            <a:br>
              <a:rPr lang="en-US"/>
            </a:br>
            <a:r>
              <a:rPr lang="en-US"/>
              <a:t> we divide the number of instances that participate in the pattern</a:t>
            </a:r>
            <a:br>
              <a:rPr lang="en-US"/>
            </a:br>
            <a:r>
              <a:rPr lang="en-US"/>
              <a:t> by the total number of instances of that event type.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Now, let’s look at the example shown at the bottom of the slide.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Assume the pattern C = {Grocery, FastFood}.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Suppose there are 10 grocery stores in total.</a:t>
            </a:r>
            <a:br>
              <a:rPr lang="en-US"/>
            </a:br>
            <a:r>
              <a:rPr lang="en-US"/>
              <a:t> If 6 of them participate in neighborhoods that include fast-food outlets,</a:t>
            </a:r>
            <a:br>
              <a:rPr lang="en-US"/>
            </a:br>
            <a:r>
              <a:rPr lang="en-US"/>
              <a:t> then the Participation Ratio for grocery stores is</a:t>
            </a:r>
            <a:br>
              <a:rPr lang="en-US"/>
            </a:br>
            <a:r>
              <a:rPr lang="en-US"/>
              <a:t> 6 divided by 10, which equals 0.6.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Next, for fast-food outlets:</a:t>
            </a:r>
            <a:br>
              <a:rPr lang="en-US"/>
            </a:br>
            <a:r>
              <a:rPr lang="en-US"/>
              <a:t> If there are 8 in total, and 4 participate in the pattern,</a:t>
            </a:r>
            <a:br>
              <a:rPr lang="en-US"/>
            </a:br>
            <a:r>
              <a:rPr lang="en-US"/>
              <a:t> then the Participation Ratio is</a:t>
            </a:r>
            <a:br>
              <a:rPr lang="en-US"/>
            </a:br>
            <a:r>
              <a:rPr lang="en-US"/>
              <a:t> 4 divided by 8, which equals 0.5.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Participation Index is then defined, as shown in the lower-right formula,</a:t>
            </a:r>
            <a:br>
              <a:rPr lang="en-US"/>
            </a:br>
            <a:r>
              <a:rPr lang="en-US"/>
              <a:t> as the minimum Participation Ratio across all event types in the pattern.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 in this example,</a:t>
            </a:r>
            <a:br>
              <a:rPr lang="en-US"/>
            </a:br>
            <a:r>
              <a:rPr lang="en-US"/>
              <a:t> the PI is min(0.6, 0.5), which equals 0.5.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is important because</a:t>
            </a:r>
            <a:br>
              <a:rPr lang="en-US"/>
            </a:br>
            <a:r>
              <a:rPr lang="en-US"/>
              <a:t> even if one category participates frequently,</a:t>
            </a:r>
            <a:br>
              <a:rPr lang="en-US"/>
            </a:br>
            <a:r>
              <a:rPr lang="en-US"/>
              <a:t> the overall pattern is considered weak</a:t>
            </a:r>
            <a:br>
              <a:rPr lang="en-US"/>
            </a:br>
            <a:r>
              <a:rPr lang="en-US"/>
              <a:t> if another category participates less.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 other words, PI ensures balanced participation among categories.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Therefore, a high PI indicates strong spatial coupling between event types.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3cc0f702c63_0_72:notes"/>
          <p:cNvSpPr/>
          <p:nvPr>
            <p:ph idx="2" type="sldImg"/>
          </p:nvPr>
        </p:nvSpPr>
        <p:spPr>
          <a:xfrm>
            <a:off x="3074988" y="877888"/>
            <a:ext cx="3159000" cy="237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9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pic>
        <p:nvPicPr>
          <p:cNvPr descr="UofM-3_TM" id="18" name="Google Shape;18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43600"/>
            <a:ext cx="9145588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2" type="sldNum"/>
          </p:nvPr>
        </p:nvSpPr>
        <p:spPr>
          <a:xfrm>
            <a:off x="131637" y="6356351"/>
            <a:ext cx="3461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0"/>
          <p:cNvSpPr txBox="1"/>
          <p:nvPr>
            <p:ph type="title"/>
          </p:nvPr>
        </p:nvSpPr>
        <p:spPr>
          <a:xfrm>
            <a:off x="685800" y="280150"/>
            <a:ext cx="7772400" cy="780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0"/>
          <p:cNvSpPr txBox="1"/>
          <p:nvPr>
            <p:ph idx="1" type="body"/>
          </p:nvPr>
        </p:nvSpPr>
        <p:spPr>
          <a:xfrm>
            <a:off x="685800" y="1234782"/>
            <a:ext cx="7772400" cy="4325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5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0"/>
          <p:cNvSpPr txBox="1"/>
          <p:nvPr>
            <p:ph idx="12" type="sldNum"/>
          </p:nvPr>
        </p:nvSpPr>
        <p:spPr>
          <a:xfrm>
            <a:off x="185578" y="6356351"/>
            <a:ext cx="338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1"/>
          <p:cNvSpPr txBox="1"/>
          <p:nvPr>
            <p:ph type="title"/>
          </p:nvPr>
        </p:nvSpPr>
        <p:spPr>
          <a:xfrm>
            <a:off x="685800" y="280150"/>
            <a:ext cx="7772400" cy="780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1"/>
          <p:cNvSpPr txBox="1"/>
          <p:nvPr>
            <p:ph idx="1" type="body"/>
          </p:nvPr>
        </p:nvSpPr>
        <p:spPr>
          <a:xfrm>
            <a:off x="685800" y="1752600"/>
            <a:ext cx="38100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Arial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3pPr>
            <a:lvl4pPr indent="-314325" lvl="3" marL="18288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Char char="–"/>
              <a:defRPr sz="1350"/>
            </a:lvl4pPr>
            <a:lvl5pPr indent="-314325" lvl="4" marL="22860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Char char="»"/>
              <a:defRPr sz="1350"/>
            </a:lvl5pPr>
            <a:lvl6pPr indent="-314325" lvl="5" marL="2743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Char char="»"/>
              <a:defRPr sz="1350"/>
            </a:lvl6pPr>
            <a:lvl7pPr indent="-314325" lvl="6" marL="32004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Char char="»"/>
              <a:defRPr sz="1350"/>
            </a:lvl7pPr>
            <a:lvl8pPr indent="-314325" lvl="7" marL="3657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Char char="»"/>
              <a:defRPr sz="1350"/>
            </a:lvl8pPr>
            <a:lvl9pPr indent="-314325" lvl="8" marL="41148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Char char="»"/>
              <a:defRPr sz="1350"/>
            </a:lvl9pPr>
          </a:lstStyle>
          <a:p/>
        </p:txBody>
      </p:sp>
      <p:sp>
        <p:nvSpPr>
          <p:cNvPr id="29" name="Google Shape;29;p51"/>
          <p:cNvSpPr txBox="1"/>
          <p:nvPr>
            <p:ph idx="2" type="body"/>
          </p:nvPr>
        </p:nvSpPr>
        <p:spPr>
          <a:xfrm>
            <a:off x="4648200" y="1752600"/>
            <a:ext cx="38100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Arial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•"/>
              <a:defRPr sz="1500"/>
            </a:lvl3pPr>
            <a:lvl4pPr indent="-314325" lvl="3" marL="18288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Char char="–"/>
              <a:defRPr sz="1350"/>
            </a:lvl4pPr>
            <a:lvl5pPr indent="-314325" lvl="4" marL="22860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Char char="»"/>
              <a:defRPr sz="1350"/>
            </a:lvl5pPr>
            <a:lvl6pPr indent="-314325" lvl="5" marL="27432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Char char="»"/>
              <a:defRPr sz="1350"/>
            </a:lvl6pPr>
            <a:lvl7pPr indent="-314325" lvl="6" marL="32004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Char char="»"/>
              <a:defRPr sz="1350"/>
            </a:lvl7pPr>
            <a:lvl8pPr indent="-314325" lvl="7" marL="3657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Char char="»"/>
              <a:defRPr sz="1350"/>
            </a:lvl8pPr>
            <a:lvl9pPr indent="-314325" lvl="8" marL="41148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Char char="»"/>
              <a:defRPr sz="135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2"/>
          <p:cNvSpPr txBox="1"/>
          <p:nvPr>
            <p:ph type="title"/>
          </p:nvPr>
        </p:nvSpPr>
        <p:spPr>
          <a:xfrm>
            <a:off x="722313" y="4406908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None/>
              <a:defRPr sz="1500"/>
            </a:lvl1pPr>
            <a:lvl2pPr indent="-228600" lvl="1" marL="9144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None/>
              <a:defRPr sz="135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050"/>
              <a:buFont typeface="Arial"/>
              <a:buNone/>
              <a:defRPr sz="1050"/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050"/>
              <a:buFont typeface="Arial"/>
              <a:buNone/>
              <a:defRPr sz="1050"/>
            </a:lvl5pPr>
            <a:lvl6pPr indent="-228600" lvl="5" marL="27432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050"/>
              <a:buFont typeface="Arial"/>
              <a:buNone/>
              <a:defRPr sz="1050"/>
            </a:lvl6pPr>
            <a:lvl7pPr indent="-228600" lvl="6" marL="3200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050"/>
              <a:buFont typeface="Arial"/>
              <a:buNone/>
              <a:defRPr sz="1050"/>
            </a:lvl7pPr>
            <a:lvl8pPr indent="-228600" lvl="7" marL="3657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050"/>
              <a:buFont typeface="Arial"/>
              <a:buNone/>
              <a:defRPr sz="1050"/>
            </a:lvl8pPr>
            <a:lvl9pPr indent="-228600" lvl="8" marL="4114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050"/>
              <a:buFont typeface="Arial"/>
              <a:buNone/>
              <a:defRPr sz="1050"/>
            </a:lvl9pPr>
          </a:lstStyle>
          <a:p/>
        </p:txBody>
      </p:sp>
      <p:sp>
        <p:nvSpPr>
          <p:cNvPr id="33" name="Google Shape;33;p5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2"/>
          <p:cNvSpPr txBox="1"/>
          <p:nvPr>
            <p:ph idx="12" type="sldNum"/>
          </p:nvPr>
        </p:nvSpPr>
        <p:spPr>
          <a:xfrm>
            <a:off x="185577" y="6356351"/>
            <a:ext cx="3307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9pPr>
          </a:lstStyle>
          <a:p/>
        </p:txBody>
      </p:sp>
      <p:sp>
        <p:nvSpPr>
          <p:cNvPr id="38" name="Google Shape;38;p5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–"/>
              <a:defRPr sz="1500"/>
            </a:lvl2pPr>
            <a:lvl3pPr indent="-314325" lvl="2" marL="1371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Char char="•"/>
              <a:defRPr sz="135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9pPr>
          </a:lstStyle>
          <a:p/>
        </p:txBody>
      </p:sp>
      <p:sp>
        <p:nvSpPr>
          <p:cNvPr id="39" name="Google Shape;39;p53"/>
          <p:cNvSpPr txBox="1"/>
          <p:nvPr>
            <p:ph idx="3" type="body"/>
          </p:nvPr>
        </p:nvSpPr>
        <p:spPr>
          <a:xfrm>
            <a:off x="4645029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None/>
              <a:defRPr b="1" sz="1200"/>
            </a:lvl9pPr>
          </a:lstStyle>
          <a:p/>
        </p:txBody>
      </p:sp>
      <p:sp>
        <p:nvSpPr>
          <p:cNvPr id="40" name="Google Shape;40;p53"/>
          <p:cNvSpPr txBox="1"/>
          <p:nvPr>
            <p:ph idx="4" type="body"/>
          </p:nvPr>
        </p:nvSpPr>
        <p:spPr>
          <a:xfrm>
            <a:off x="4645029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–"/>
              <a:defRPr sz="1500"/>
            </a:lvl2pPr>
            <a:lvl3pPr indent="-314325" lvl="2" marL="1371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SzPts val="1350"/>
              <a:buFont typeface="Arial"/>
              <a:buChar char="•"/>
              <a:defRPr sz="135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Font typeface="Arial"/>
              <a:buChar char="»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4"/>
          <p:cNvSpPr txBox="1"/>
          <p:nvPr>
            <p:ph type="title"/>
          </p:nvPr>
        </p:nvSpPr>
        <p:spPr>
          <a:xfrm>
            <a:off x="685800" y="280150"/>
            <a:ext cx="7772400" cy="780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6"/>
          <p:cNvSpPr txBox="1"/>
          <p:nvPr>
            <p:ph type="title"/>
          </p:nvPr>
        </p:nvSpPr>
        <p:spPr>
          <a:xfrm>
            <a:off x="457202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6"/>
          <p:cNvSpPr txBox="1"/>
          <p:nvPr>
            <p:ph idx="1" type="body"/>
          </p:nvPr>
        </p:nvSpPr>
        <p:spPr>
          <a:xfrm>
            <a:off x="3575050" y="273058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Arial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»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»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»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»"/>
              <a:defRPr sz="1500"/>
            </a:lvl9pPr>
          </a:lstStyle>
          <a:p/>
        </p:txBody>
      </p:sp>
      <p:sp>
        <p:nvSpPr>
          <p:cNvPr id="47" name="Google Shape;47;p56"/>
          <p:cNvSpPr txBox="1"/>
          <p:nvPr>
            <p:ph idx="2" type="body"/>
          </p:nvPr>
        </p:nvSpPr>
        <p:spPr>
          <a:xfrm>
            <a:off x="457202" y="1435103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050"/>
              <a:buFont typeface="Arial"/>
              <a:buNone/>
              <a:defRPr sz="1050"/>
            </a:lvl1pPr>
            <a:lvl2pPr indent="-228600" lvl="1" marL="914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750"/>
              <a:buFont typeface="Arial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SzPts val="675"/>
              <a:buFont typeface="Arial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SzPts val="675"/>
              <a:buFont typeface="Arial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SzPts val="675"/>
              <a:buFont typeface="Arial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SzPts val="675"/>
              <a:buFont typeface="Arial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SzPts val="675"/>
              <a:buFont typeface="Arial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SzPts val="675"/>
              <a:buFont typeface="Arial"/>
              <a:buNone/>
              <a:defRPr sz="675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5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050"/>
              <a:buFont typeface="Arial"/>
              <a:buNone/>
              <a:defRPr sz="1050"/>
            </a:lvl1pPr>
            <a:lvl2pPr indent="-228600" lvl="1" marL="914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Font typeface="Arial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SzPts val="750"/>
              <a:buFont typeface="Arial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SzPts val="675"/>
              <a:buFont typeface="Arial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SzPts val="675"/>
              <a:buFont typeface="Arial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SzPts val="675"/>
              <a:buFont typeface="Arial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SzPts val="675"/>
              <a:buFont typeface="Arial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SzPts val="675"/>
              <a:buFont typeface="Arial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SzPts val="675"/>
              <a:buFont typeface="Arial"/>
              <a:buNone/>
              <a:defRPr sz="675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8"/>
          <p:cNvSpPr txBox="1"/>
          <p:nvPr>
            <p:ph type="title"/>
          </p:nvPr>
        </p:nvSpPr>
        <p:spPr>
          <a:xfrm>
            <a:off x="685800" y="280150"/>
            <a:ext cx="7772400" cy="780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8"/>
          <p:cNvSpPr txBox="1"/>
          <p:nvPr>
            <p:ph idx="1" type="body"/>
          </p:nvPr>
        </p:nvSpPr>
        <p:spPr>
          <a:xfrm rot="5400000">
            <a:off x="2409204" y="-488622"/>
            <a:ext cx="4325592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9"/>
          <p:cNvSpPr txBox="1"/>
          <p:nvPr>
            <p:ph type="title"/>
          </p:nvPr>
        </p:nvSpPr>
        <p:spPr>
          <a:xfrm rot="5400000">
            <a:off x="4781550" y="2038350"/>
            <a:ext cx="54102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9"/>
          <p:cNvSpPr txBox="1"/>
          <p:nvPr>
            <p:ph idx="1" type="body"/>
          </p:nvPr>
        </p:nvSpPr>
        <p:spPr>
          <a:xfrm rot="5400000">
            <a:off x="819150" y="171450"/>
            <a:ext cx="54102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ofM-3_TM" id="10" name="Google Shape;10;p4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5943600"/>
            <a:ext cx="9145588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8"/>
          <p:cNvSpPr txBox="1"/>
          <p:nvPr>
            <p:ph type="title"/>
          </p:nvPr>
        </p:nvSpPr>
        <p:spPr>
          <a:xfrm>
            <a:off x="685800" y="280150"/>
            <a:ext cx="7772400" cy="780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7A001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8"/>
          <p:cNvSpPr txBox="1"/>
          <p:nvPr>
            <p:ph idx="1" type="body"/>
          </p:nvPr>
        </p:nvSpPr>
        <p:spPr>
          <a:xfrm>
            <a:off x="685800" y="1234782"/>
            <a:ext cx="7772400" cy="4325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A001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7A0019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A0019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A0019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A0019"/>
              </a:buClr>
              <a:buSzPts val="1200"/>
              <a:buFont typeface="Arial"/>
              <a:buChar char="»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7A0019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7A0019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7A0019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7A0019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8"/>
          <p:cNvSpPr txBox="1"/>
          <p:nvPr>
            <p:ph idx="12" type="sldNum"/>
          </p:nvPr>
        </p:nvSpPr>
        <p:spPr>
          <a:xfrm>
            <a:off x="185577" y="6356351"/>
            <a:ext cx="5002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685800" y="2428104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/>
              <a:t>Detecting Urban Food Deserts </a:t>
            </a:r>
            <a:endParaRPr b="1" sz="2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/>
              <a:t>Using Spatial Co-location Mining</a:t>
            </a:r>
            <a:endParaRPr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371600" y="3469506"/>
            <a:ext cx="6400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Woochang Shin and Yashasvi Singh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685800" y="280150"/>
            <a:ext cx="7772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latin typeface="Helvetica Neue"/>
                <a:ea typeface="Helvetica Neue"/>
                <a:cs typeface="Helvetica Neue"/>
                <a:sym typeface="Helvetica Neue"/>
              </a:rPr>
              <a:t>Research Question</a:t>
            </a:r>
            <a:endParaRPr b="1" sz="3200"/>
          </a:p>
        </p:txBody>
      </p:sp>
      <p:sp>
        <p:nvSpPr>
          <p:cNvPr id="71" name="Google Shape;71;p2"/>
          <p:cNvSpPr txBox="1"/>
          <p:nvPr/>
        </p:nvSpPr>
        <p:spPr>
          <a:xfrm>
            <a:off x="199350" y="1320838"/>
            <a:ext cx="8745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Helvetica Neue Light"/>
                <a:ea typeface="Helvetica Neue Light"/>
                <a:cs typeface="Helvetica Neue Light"/>
                <a:sym typeface="Helvetica Neue Light"/>
              </a:rPr>
              <a:t>How can we detect true food deserts using </a:t>
            </a:r>
            <a:r>
              <a:rPr b="1" lang="en-US" sz="2100">
                <a:latin typeface="Helvetica Neue"/>
                <a:ea typeface="Helvetica Neue"/>
                <a:cs typeface="Helvetica Neue"/>
                <a:sym typeface="Helvetica Neue"/>
              </a:rPr>
              <a:t>spatial</a:t>
            </a:r>
            <a:r>
              <a:rPr lang="en-US" sz="2100"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b="1" lang="en-US" sz="2100">
                <a:latin typeface="Helvetica Neue"/>
                <a:ea typeface="Helvetica Neue"/>
                <a:cs typeface="Helvetica Neue"/>
                <a:sym typeface="Helvetica Neue"/>
              </a:rPr>
              <a:t>co-location</a:t>
            </a:r>
            <a:r>
              <a:rPr lang="en-US" sz="2100"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b="1" lang="en-US" sz="2100">
                <a:latin typeface="Helvetica Neue"/>
                <a:ea typeface="Helvetica Neue"/>
                <a:cs typeface="Helvetica Neue"/>
                <a:sym typeface="Helvetica Neue"/>
              </a:rPr>
              <a:t>patterns</a:t>
            </a:r>
            <a:r>
              <a:rPr lang="en-US" sz="2100">
                <a:latin typeface="Helvetica Neue Light"/>
                <a:ea typeface="Helvetica Neue Light"/>
                <a:cs typeface="Helvetica Neue Light"/>
                <a:sym typeface="Helvetica Neue Light"/>
              </a:rPr>
              <a:t> rather than simple </a:t>
            </a:r>
            <a:r>
              <a:rPr b="1" lang="en-US" sz="2100">
                <a:latin typeface="Helvetica Neue"/>
                <a:ea typeface="Helvetica Neue"/>
                <a:cs typeface="Helvetica Neue"/>
                <a:sym typeface="Helvetica Neue"/>
              </a:rPr>
              <a:t>distance-based</a:t>
            </a:r>
            <a:r>
              <a:rPr lang="en-US" sz="2100">
                <a:latin typeface="Helvetica Neue Light"/>
                <a:ea typeface="Helvetica Neue Light"/>
                <a:cs typeface="Helvetica Neue Light"/>
                <a:sym typeface="Helvetica Neue Light"/>
              </a:rPr>
              <a:t> definitions?</a:t>
            </a:r>
            <a:endParaRPr sz="21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72" name="Google Shape;7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100" y="2585421"/>
            <a:ext cx="2932025" cy="248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622" y="2590994"/>
            <a:ext cx="3726292" cy="236795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 txBox="1"/>
          <p:nvPr/>
        </p:nvSpPr>
        <p:spPr>
          <a:xfrm>
            <a:off x="1504650" y="5073194"/>
            <a:ext cx="689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Helvetica Neue Light"/>
                <a:ea typeface="Helvetica Neue Light"/>
                <a:cs typeface="Helvetica Neue Light"/>
                <a:sym typeface="Helvetica Neue Light"/>
              </a:rPr>
              <a:t>Distance-Based Definition (Buffer Model) vs Spatial Co-Location Pattern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>
            <p:ph type="title"/>
          </p:nvPr>
        </p:nvSpPr>
        <p:spPr>
          <a:xfrm>
            <a:off x="685800" y="280150"/>
            <a:ext cx="7772400" cy="7801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/>
              <a:t>Societal Motivation</a:t>
            </a:r>
            <a:endParaRPr sz="3200"/>
          </a:p>
        </p:txBody>
      </p:sp>
      <p:sp>
        <p:nvSpPr>
          <p:cNvPr id="80" name="Google Shape;80;p4"/>
          <p:cNvSpPr txBox="1"/>
          <p:nvPr/>
        </p:nvSpPr>
        <p:spPr>
          <a:xfrm>
            <a:off x="206675" y="1308050"/>
            <a:ext cx="45357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Food access inequality is a major urban challenge 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Limited access to healthy and affordable food is linked to obesity, diabetes, and chronic disease 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Low-income neighborhoods often experience systematic grocery underrepresentation 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Accurate detection of food environment imbalance can improve public policy and community health</a:t>
            </a:r>
            <a:endParaRPr sz="175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81" name="Google Shape;81;p4"/>
          <p:cNvGrpSpPr/>
          <p:nvPr/>
        </p:nvGrpSpPr>
        <p:grpSpPr>
          <a:xfrm>
            <a:off x="4815784" y="1102901"/>
            <a:ext cx="4088551" cy="2928351"/>
            <a:chOff x="4625150" y="1060299"/>
            <a:chExt cx="4337525" cy="3106674"/>
          </a:xfrm>
        </p:grpSpPr>
        <p:pic>
          <p:nvPicPr>
            <p:cNvPr id="82" name="Google Shape;82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25150" y="1060299"/>
              <a:ext cx="4337525" cy="3106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4"/>
            <p:cNvSpPr/>
            <p:nvPr/>
          </p:nvSpPr>
          <p:spPr>
            <a:xfrm>
              <a:off x="5151225" y="2179950"/>
              <a:ext cx="2067600" cy="439500"/>
            </a:xfrm>
            <a:prstGeom prst="rect">
              <a:avLst/>
            </a:prstGeom>
            <a:noFill/>
            <a:ln cap="flat" cmpd="sng" w="89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6175" lIns="86175" spcFirstLastPara="1" rIns="86175" wrap="square" tIns="861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19"/>
            </a:p>
          </p:txBody>
        </p:sp>
      </p:grpSp>
      <p:pic>
        <p:nvPicPr>
          <p:cNvPr id="84" name="Google Shape;8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3400" y="3168100"/>
            <a:ext cx="3656125" cy="254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bf7c4c971_0_4"/>
          <p:cNvSpPr txBox="1"/>
          <p:nvPr>
            <p:ph type="title"/>
          </p:nvPr>
        </p:nvSpPr>
        <p:spPr>
          <a:xfrm>
            <a:off x="685800" y="280150"/>
            <a:ext cx="7772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3200"/>
              <a:t>Problem Statement</a:t>
            </a:r>
            <a:endParaRPr b="1" sz="3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g3cbf7c4c971_0_4"/>
          <p:cNvSpPr txBox="1"/>
          <p:nvPr/>
        </p:nvSpPr>
        <p:spPr>
          <a:xfrm>
            <a:off x="235975" y="979850"/>
            <a:ext cx="8745300" cy="48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Data Components: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Geolocated food outlet data (type, latitude, longitude, etc.)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Neighborhood definition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Interaction radius R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Expected Outcomes: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Identification of structurally imbalanced neighborhoods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Co-location interaction metrics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Comparison with distance-based classification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Study Goal: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Detect spatial imbalance in food environments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Constraints: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Continuous spatial data (no natural transactions)</a:t>
            </a:r>
            <a:b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	• Sensitivity to neighborhood radius R</a:t>
            </a:r>
            <a:b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	• Uneven urban density</a:t>
            </a:r>
            <a:b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	</a:t>
            </a:r>
            <a:endParaRPr sz="175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2240400" y="94275"/>
            <a:ext cx="4663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/>
              <a:t>Key Concepts</a:t>
            </a:r>
            <a:endParaRPr sz="3200"/>
          </a:p>
        </p:txBody>
      </p:sp>
      <p:grpSp>
        <p:nvGrpSpPr>
          <p:cNvPr id="97" name="Google Shape;97;p5"/>
          <p:cNvGrpSpPr/>
          <p:nvPr/>
        </p:nvGrpSpPr>
        <p:grpSpPr>
          <a:xfrm>
            <a:off x="749649" y="1011970"/>
            <a:ext cx="3439748" cy="4410442"/>
            <a:chOff x="2819425" y="1340875"/>
            <a:chExt cx="2740616" cy="3514017"/>
          </a:xfrm>
        </p:grpSpPr>
        <p:pic>
          <p:nvPicPr>
            <p:cNvPr id="98" name="Google Shape;9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19425" y="1340875"/>
              <a:ext cx="2740616" cy="1654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19425" y="3090510"/>
              <a:ext cx="2740616" cy="16971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" name="Google Shape;100;p5"/>
            <p:cNvSpPr txBox="1"/>
            <p:nvPr/>
          </p:nvSpPr>
          <p:spPr>
            <a:xfrm>
              <a:off x="4604818" y="2589542"/>
              <a:ext cx="539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425" lIns="90425" spcFirstLastPara="1" rIns="90425" wrap="square" tIns="90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780"/>
                </a:spcBef>
                <a:spcAft>
                  <a:spcPts val="396"/>
                </a:spcAft>
                <a:buNone/>
              </a:pPr>
              <a:r>
                <a:rPr b="1" lang="en-US" sz="988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R=300M</a:t>
              </a:r>
              <a:endParaRPr sz="988"/>
            </a:p>
          </p:txBody>
        </p:sp>
        <p:sp>
          <p:nvSpPr>
            <p:cNvPr id="101" name="Google Shape;101;p5"/>
            <p:cNvSpPr txBox="1"/>
            <p:nvPr/>
          </p:nvSpPr>
          <p:spPr>
            <a:xfrm>
              <a:off x="4604818" y="4378121"/>
              <a:ext cx="539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425" lIns="90425" spcFirstLastPara="1" rIns="90425" wrap="square" tIns="90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780"/>
                </a:spcBef>
                <a:spcAft>
                  <a:spcPts val="396"/>
                </a:spcAft>
                <a:buNone/>
              </a:pPr>
              <a:r>
                <a:rPr b="1" lang="en-US" sz="988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R=500M</a:t>
              </a:r>
              <a:endParaRPr sz="988"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3484488" y="1984308"/>
              <a:ext cx="130500" cy="120300"/>
            </a:xfrm>
            <a:prstGeom prst="ellipse">
              <a:avLst/>
            </a:prstGeom>
            <a:noFill/>
            <a:ln cap="flat" cmpd="sng" w="9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425" lIns="90425" spcFirstLastPara="1" rIns="90425" wrap="square" tIns="90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4"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3523611" y="2018466"/>
              <a:ext cx="52200" cy="51900"/>
            </a:xfrm>
            <a:prstGeom prst="ellipse">
              <a:avLst/>
            </a:prstGeom>
            <a:solidFill>
              <a:srgbClr val="FF0000"/>
            </a:solidFill>
            <a:ln cap="flat" cmpd="sng" w="9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425" lIns="90425" spcFirstLastPara="1" rIns="90425" wrap="square" tIns="90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4"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3269945" y="3624572"/>
              <a:ext cx="456300" cy="457800"/>
            </a:xfrm>
            <a:prstGeom prst="ellipse">
              <a:avLst/>
            </a:prstGeom>
            <a:noFill/>
            <a:ln cap="flat" cmpd="sng" w="9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425" lIns="90425" spcFirstLastPara="1" rIns="90425" wrap="square" tIns="90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4"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3471940" y="3834367"/>
              <a:ext cx="52200" cy="51900"/>
            </a:xfrm>
            <a:prstGeom prst="ellipse">
              <a:avLst/>
            </a:prstGeom>
            <a:solidFill>
              <a:srgbClr val="FF0000"/>
            </a:solidFill>
            <a:ln cap="flat" cmpd="sng" w="9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425" lIns="90425" spcFirstLastPara="1" rIns="90425" wrap="square" tIns="90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4"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3614975" y="3864388"/>
              <a:ext cx="22800" cy="21900"/>
            </a:xfrm>
            <a:prstGeom prst="ellipse">
              <a:avLst/>
            </a:prstGeom>
            <a:solidFill>
              <a:srgbClr val="FF9900"/>
            </a:solidFill>
            <a:ln cap="flat" cmpd="sng" w="94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425" lIns="90425" spcFirstLastPara="1" rIns="90425" wrap="square" tIns="90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4"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3530367" y="3834367"/>
              <a:ext cx="22800" cy="21900"/>
            </a:xfrm>
            <a:prstGeom prst="ellipse">
              <a:avLst/>
            </a:prstGeom>
            <a:solidFill>
              <a:srgbClr val="FF9900"/>
            </a:solidFill>
            <a:ln cap="flat" cmpd="sng" w="94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425" lIns="90425" spcFirstLastPara="1" rIns="90425" wrap="square" tIns="90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4"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3492683" y="3790970"/>
              <a:ext cx="22800" cy="21900"/>
            </a:xfrm>
            <a:prstGeom prst="ellipse">
              <a:avLst/>
            </a:prstGeom>
            <a:solidFill>
              <a:srgbClr val="FF9900"/>
            </a:solidFill>
            <a:ln cap="flat" cmpd="sng" w="94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425" lIns="90425" spcFirstLastPara="1" rIns="90425" wrap="square" tIns="90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4"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3471940" y="3801607"/>
              <a:ext cx="22800" cy="21900"/>
            </a:xfrm>
            <a:prstGeom prst="ellipse">
              <a:avLst/>
            </a:prstGeom>
            <a:solidFill>
              <a:srgbClr val="FF9900"/>
            </a:solidFill>
            <a:ln cap="flat" cmpd="sng" w="94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425" lIns="90425" spcFirstLastPara="1" rIns="90425" wrap="square" tIns="90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4"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3387332" y="3823591"/>
              <a:ext cx="22800" cy="21900"/>
            </a:xfrm>
            <a:prstGeom prst="ellipse">
              <a:avLst/>
            </a:prstGeom>
            <a:solidFill>
              <a:srgbClr val="FF9900"/>
            </a:solidFill>
            <a:ln cap="flat" cmpd="sng" w="94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0425" lIns="90425" spcFirstLastPara="1" rIns="90425" wrap="square" tIns="90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84"/>
            </a:p>
          </p:txBody>
        </p:sp>
        <p:sp>
          <p:nvSpPr>
            <p:cNvPr id="111" name="Google Shape;111;p5"/>
            <p:cNvSpPr txBox="1"/>
            <p:nvPr/>
          </p:nvSpPr>
          <p:spPr>
            <a:xfrm>
              <a:off x="4393643" y="2823626"/>
              <a:ext cx="1129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425" lIns="90425" spcFirstLastPara="1" rIns="90425" wrap="square" tIns="90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8"/>
                <a:t> 2 neighbors detected</a:t>
              </a:r>
              <a:endParaRPr sz="988"/>
            </a:p>
          </p:txBody>
        </p:sp>
        <p:sp>
          <p:nvSpPr>
            <p:cNvPr id="112" name="Google Shape;112;p5"/>
            <p:cNvSpPr txBox="1"/>
            <p:nvPr/>
          </p:nvSpPr>
          <p:spPr>
            <a:xfrm>
              <a:off x="4430106" y="4588192"/>
              <a:ext cx="1129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425" lIns="90425" spcFirstLastPara="1" rIns="90425" wrap="square" tIns="90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88"/>
                <a:t> 5 neighbors detected</a:t>
              </a:r>
              <a:endParaRPr sz="988"/>
            </a:p>
          </p:txBody>
        </p:sp>
      </p:grpSp>
      <p:grpSp>
        <p:nvGrpSpPr>
          <p:cNvPr id="113" name="Google Shape;113;p5"/>
          <p:cNvGrpSpPr/>
          <p:nvPr/>
        </p:nvGrpSpPr>
        <p:grpSpPr>
          <a:xfrm>
            <a:off x="4844162" y="3470683"/>
            <a:ext cx="3562461" cy="1927259"/>
            <a:chOff x="4627849" y="1349506"/>
            <a:chExt cx="3196752" cy="1729414"/>
          </a:xfrm>
        </p:grpSpPr>
        <p:pic>
          <p:nvPicPr>
            <p:cNvPr id="114" name="Google Shape;114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27849" y="1349506"/>
              <a:ext cx="3196752" cy="6535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023923" y="2326926"/>
              <a:ext cx="2185113" cy="4756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5"/>
            <p:cNvSpPr txBox="1"/>
            <p:nvPr/>
          </p:nvSpPr>
          <p:spPr>
            <a:xfrm>
              <a:off x="5105334" y="1921641"/>
              <a:ext cx="2340900" cy="276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475" lIns="79475" spcFirstLastPara="1" rIns="79475" wrap="square" tIns="794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6"/>
                <a:t>Formula: Participation Ratio Formula</a:t>
              </a:r>
              <a:endParaRPr sz="956"/>
            </a:p>
          </p:txBody>
        </p:sp>
        <p:sp>
          <p:nvSpPr>
            <p:cNvPr id="117" name="Google Shape;117;p5"/>
            <p:cNvSpPr txBox="1"/>
            <p:nvPr/>
          </p:nvSpPr>
          <p:spPr>
            <a:xfrm>
              <a:off x="5323603" y="2802620"/>
              <a:ext cx="2340900" cy="2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9475" lIns="79475" spcFirstLastPara="1" rIns="79475" wrap="square" tIns="7947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6"/>
                <a:t>Formula:  Participation Index</a:t>
              </a:r>
              <a:endParaRPr sz="956"/>
            </a:p>
          </p:txBody>
        </p:sp>
      </p:grpSp>
      <p:sp>
        <p:nvSpPr>
          <p:cNvPr id="118" name="Google Shape;118;p5"/>
          <p:cNvSpPr txBox="1"/>
          <p:nvPr/>
        </p:nvSpPr>
        <p:spPr>
          <a:xfrm>
            <a:off x="5619500" y="5437725"/>
            <a:ext cx="1910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Participation Index (PI)</a:t>
            </a:r>
            <a:endParaRPr b="1" sz="13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1371975" y="5422425"/>
            <a:ext cx="2195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Spatial Neighborhood ®</a:t>
            </a:r>
            <a:endParaRPr/>
          </a:p>
        </p:txBody>
      </p:sp>
      <p:pic>
        <p:nvPicPr>
          <p:cNvPr id="120" name="Google Shape;120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06300" y="1093325"/>
            <a:ext cx="3800325" cy="1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5899988" y="3078275"/>
            <a:ext cx="1314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Food Desert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4a9603fbc_0_0"/>
          <p:cNvSpPr txBox="1"/>
          <p:nvPr>
            <p:ph type="title"/>
          </p:nvPr>
        </p:nvSpPr>
        <p:spPr>
          <a:xfrm>
            <a:off x="685800" y="280150"/>
            <a:ext cx="7772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/>
              <a:t>Challenges</a:t>
            </a:r>
            <a:endParaRPr sz="3200"/>
          </a:p>
        </p:txBody>
      </p:sp>
      <p:sp>
        <p:nvSpPr>
          <p:cNvPr id="127" name="Google Shape;127;g3c4a9603fbc_0_0"/>
          <p:cNvSpPr txBox="1"/>
          <p:nvPr/>
        </p:nvSpPr>
        <p:spPr>
          <a:xfrm>
            <a:off x="276750" y="1886375"/>
            <a:ext cx="84681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natural “transactions”</a:t>
            </a:r>
            <a:r>
              <a:rPr lang="en-US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in continuous spatial data (need neighborhood definition)</a:t>
            </a:r>
            <a:br>
              <a:rPr lang="en-US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Neighborhood radius selection (R) </a:t>
            </a:r>
            <a:r>
              <a:rPr lang="en-US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affects results scale sensitivity</a:t>
            </a:r>
            <a:br>
              <a:rPr lang="en-US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sparsity &amp; imbalance</a:t>
            </a:r>
            <a:r>
              <a:rPr lang="en-US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across neighborhoods (downtown vs residential)</a:t>
            </a:r>
            <a:br>
              <a:rPr lang="en-US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Capturing absence / *anti-co-location</a:t>
            </a:r>
            <a:r>
              <a:rPr lang="en-US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(e.g., fast-food present but grocery missing)</a:t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8" name="Google Shape;128;g3c4a9603fbc_0_0"/>
          <p:cNvSpPr txBox="1"/>
          <p:nvPr/>
        </p:nvSpPr>
        <p:spPr>
          <a:xfrm>
            <a:off x="67200" y="5526675"/>
            <a:ext cx="678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*Anti-co-location is the spatial association between presence of one feature and absence of another.</a:t>
            </a:r>
            <a:endParaRPr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bf7c4c971_0_12"/>
          <p:cNvSpPr txBox="1"/>
          <p:nvPr>
            <p:ph type="title"/>
          </p:nvPr>
        </p:nvSpPr>
        <p:spPr>
          <a:xfrm>
            <a:off x="849663" y="243025"/>
            <a:ext cx="75126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975" lIns="77975" spcFirstLastPara="1" rIns="77975" wrap="square" tIns="389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94"/>
              <a:buNone/>
            </a:pPr>
            <a:r>
              <a:rPr b="1" lang="en-US" sz="3200">
                <a:solidFill>
                  <a:srgbClr val="7A0019"/>
                </a:solidFill>
                <a:highlight>
                  <a:srgbClr val="FFFFFF"/>
                </a:highlight>
              </a:rPr>
              <a:t>Related Work and </a:t>
            </a:r>
            <a:r>
              <a:rPr b="1" lang="en-US" sz="3200">
                <a:highlight>
                  <a:srgbClr val="FFFFFF"/>
                </a:highlight>
              </a:rPr>
              <a:t>I</a:t>
            </a:r>
            <a:r>
              <a:rPr b="1" lang="en-US" sz="3200">
                <a:solidFill>
                  <a:srgbClr val="7A0019"/>
                </a:solidFill>
                <a:highlight>
                  <a:srgbClr val="FFFFFF"/>
                </a:highlight>
              </a:rPr>
              <a:t>ts </a:t>
            </a:r>
            <a:r>
              <a:rPr b="1" lang="en-US" sz="3200">
                <a:highlight>
                  <a:srgbClr val="FFFFFF"/>
                </a:highlight>
              </a:rPr>
              <a:t>L</a:t>
            </a:r>
            <a:r>
              <a:rPr b="1" lang="en-US" sz="3200">
                <a:solidFill>
                  <a:srgbClr val="7A0019"/>
                </a:solidFill>
                <a:highlight>
                  <a:srgbClr val="FFFFFF"/>
                </a:highlight>
              </a:rPr>
              <a:t>imitations</a:t>
            </a:r>
            <a:endParaRPr b="1" sz="3200">
              <a:solidFill>
                <a:srgbClr val="7A0019"/>
              </a:solidFill>
            </a:endParaRPr>
          </a:p>
        </p:txBody>
      </p:sp>
      <p:sp>
        <p:nvSpPr>
          <p:cNvPr id="134" name="Google Shape;134;g3cbf7c4c971_0_12"/>
          <p:cNvSpPr/>
          <p:nvPr/>
        </p:nvSpPr>
        <p:spPr>
          <a:xfrm>
            <a:off x="4770504" y="1096500"/>
            <a:ext cx="2650800" cy="387300"/>
          </a:xfrm>
          <a:prstGeom prst="rect">
            <a:avLst/>
          </a:prstGeom>
          <a:solidFill>
            <a:srgbClr val="EFEFEF"/>
          </a:solidFill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9">
                <a:latin typeface="Montserrat Light"/>
                <a:ea typeface="Montserrat Light"/>
                <a:cs typeface="Montserrat Light"/>
                <a:sym typeface="Montserrat Light"/>
              </a:rPr>
              <a:t>Uses distance / buffer methods?</a:t>
            </a:r>
            <a:endParaRPr sz="1089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35" name="Google Shape;135;g3cbf7c4c971_0_12"/>
          <p:cNvSpPr/>
          <p:nvPr/>
        </p:nvSpPr>
        <p:spPr>
          <a:xfrm>
            <a:off x="3172076" y="2089119"/>
            <a:ext cx="2572800" cy="653100"/>
          </a:xfrm>
          <a:prstGeom prst="rect">
            <a:avLst/>
          </a:prstGeom>
          <a:solidFill>
            <a:srgbClr val="EFEFEF"/>
          </a:solidFill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9">
                <a:latin typeface="Montserrat Light"/>
                <a:ea typeface="Montserrat Light"/>
                <a:cs typeface="Montserrat Light"/>
                <a:sym typeface="Montserrat Light"/>
              </a:rPr>
              <a:t>Considers spatial composition patterns?</a:t>
            </a:r>
            <a:endParaRPr sz="1089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36" name="Google Shape;136;g3cbf7c4c971_0_12"/>
          <p:cNvSpPr/>
          <p:nvPr/>
        </p:nvSpPr>
        <p:spPr>
          <a:xfrm>
            <a:off x="6594885" y="2089119"/>
            <a:ext cx="2276700" cy="540300"/>
          </a:xfrm>
          <a:prstGeom prst="rect">
            <a:avLst/>
          </a:prstGeom>
          <a:solidFill>
            <a:schemeClr val="lt1"/>
          </a:solidFill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9">
                <a:latin typeface="Montserrat Light"/>
                <a:ea typeface="Montserrat Light"/>
                <a:cs typeface="Montserrat Light"/>
                <a:sym typeface="Montserrat Light"/>
              </a:rPr>
              <a:t>Alternative accessibility metrics</a:t>
            </a:r>
            <a:endParaRPr sz="1089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137" name="Google Shape;137;g3cbf7c4c971_0_12"/>
          <p:cNvCxnSpPr>
            <a:stCxn id="135" idx="0"/>
            <a:endCxn id="134" idx="2"/>
          </p:cNvCxnSpPr>
          <p:nvPr/>
        </p:nvCxnSpPr>
        <p:spPr>
          <a:xfrm rot="-5400000">
            <a:off x="4974476" y="967719"/>
            <a:ext cx="605400" cy="1637400"/>
          </a:xfrm>
          <a:prstGeom prst="bentConnector3">
            <a:avLst>
              <a:gd fmla="val 50000" name="adj1"/>
            </a:avLst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g3cbf7c4c971_0_12"/>
          <p:cNvCxnSpPr>
            <a:stCxn id="136" idx="0"/>
            <a:endCxn id="134" idx="2"/>
          </p:cNvCxnSpPr>
          <p:nvPr/>
        </p:nvCxnSpPr>
        <p:spPr>
          <a:xfrm flipH="1" rot="5400000">
            <a:off x="6611835" y="967719"/>
            <a:ext cx="605400" cy="1637400"/>
          </a:xfrm>
          <a:prstGeom prst="bentConnector3">
            <a:avLst>
              <a:gd fmla="val 50000" name="adj1"/>
            </a:avLst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g3cbf7c4c971_0_12"/>
          <p:cNvSpPr/>
          <p:nvPr/>
        </p:nvSpPr>
        <p:spPr>
          <a:xfrm>
            <a:off x="1534789" y="3478521"/>
            <a:ext cx="2572800" cy="653100"/>
          </a:xfrm>
          <a:prstGeom prst="rect">
            <a:avLst/>
          </a:prstGeom>
          <a:solidFill>
            <a:srgbClr val="EFEFEF"/>
          </a:solidFill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9">
                <a:latin typeface="Montserrat Light"/>
                <a:ea typeface="Montserrat Light"/>
                <a:cs typeface="Montserrat Light"/>
                <a:sym typeface="Montserrat Light"/>
              </a:rPr>
              <a:t>Detects anti-co-location</a:t>
            </a:r>
            <a:endParaRPr sz="1089"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9">
                <a:latin typeface="Montserrat Light"/>
                <a:ea typeface="Montserrat Light"/>
                <a:cs typeface="Montserrat Light"/>
                <a:sym typeface="Montserrat Light"/>
              </a:rPr>
              <a:t> (absence patterns)?</a:t>
            </a:r>
            <a:endParaRPr sz="1089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40" name="Google Shape;140;g3cbf7c4c971_0_12"/>
          <p:cNvSpPr/>
          <p:nvPr/>
        </p:nvSpPr>
        <p:spPr>
          <a:xfrm>
            <a:off x="4957598" y="3478521"/>
            <a:ext cx="2276700" cy="540300"/>
          </a:xfrm>
          <a:prstGeom prst="rect">
            <a:avLst/>
          </a:prstGeom>
          <a:solidFill>
            <a:schemeClr val="lt1"/>
          </a:solidFill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Most public health food desert studies</a:t>
            </a:r>
            <a:endParaRPr sz="1089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141" name="Google Shape;141;g3cbf7c4c971_0_12"/>
          <p:cNvCxnSpPr>
            <a:stCxn id="139" idx="0"/>
            <a:endCxn id="135" idx="2"/>
          </p:cNvCxnSpPr>
          <p:nvPr/>
        </p:nvCxnSpPr>
        <p:spPr>
          <a:xfrm rot="-5400000">
            <a:off x="3271789" y="2291721"/>
            <a:ext cx="736200" cy="1637400"/>
          </a:xfrm>
          <a:prstGeom prst="bentConnector3">
            <a:avLst>
              <a:gd fmla="val 49995" name="adj1"/>
            </a:avLst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g3cbf7c4c971_0_12"/>
          <p:cNvCxnSpPr>
            <a:stCxn id="140" idx="0"/>
            <a:endCxn id="135" idx="2"/>
          </p:cNvCxnSpPr>
          <p:nvPr/>
        </p:nvCxnSpPr>
        <p:spPr>
          <a:xfrm flipH="1" rot="5400000">
            <a:off x="4909148" y="2291721"/>
            <a:ext cx="736200" cy="1637400"/>
          </a:xfrm>
          <a:prstGeom prst="bentConnector3">
            <a:avLst>
              <a:gd fmla="val 49995" name="adj1"/>
            </a:avLst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g3cbf7c4c971_0_12"/>
          <p:cNvSpPr/>
          <p:nvPr/>
        </p:nvSpPr>
        <p:spPr>
          <a:xfrm>
            <a:off x="432350" y="5066469"/>
            <a:ext cx="1797900" cy="387300"/>
          </a:xfrm>
          <a:prstGeom prst="rect">
            <a:avLst/>
          </a:prstGeom>
          <a:solidFill>
            <a:srgbClr val="EFEFEF"/>
          </a:solidFill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9">
                <a:latin typeface="Montserrat Light"/>
                <a:ea typeface="Montserrat Light"/>
                <a:cs typeface="Montserrat Light"/>
                <a:sym typeface="Montserrat Light"/>
              </a:rPr>
              <a:t>Our Work</a:t>
            </a:r>
            <a:endParaRPr sz="1089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44" name="Google Shape;144;g3cbf7c4c971_0_12"/>
          <p:cNvSpPr/>
          <p:nvPr/>
        </p:nvSpPr>
        <p:spPr>
          <a:xfrm>
            <a:off x="3423951" y="5066465"/>
            <a:ext cx="2043900" cy="387300"/>
          </a:xfrm>
          <a:prstGeom prst="rect">
            <a:avLst/>
          </a:prstGeom>
          <a:solidFill>
            <a:schemeClr val="lt1"/>
          </a:solidFill>
          <a:ln cap="flat" cmpd="sng" w="8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000" lIns="83000" spcFirstLastPara="1" rIns="83000" wrap="square" tIns="83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9">
                <a:latin typeface="Montserrat Light"/>
                <a:ea typeface="Montserrat Light"/>
                <a:cs typeface="Montserrat Light"/>
                <a:sym typeface="Montserrat Light"/>
              </a:rPr>
              <a:t>Most existing work</a:t>
            </a:r>
            <a:endParaRPr sz="1089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145" name="Google Shape;145;g3cbf7c4c971_0_12"/>
          <p:cNvCxnSpPr>
            <a:stCxn id="143" idx="0"/>
            <a:endCxn id="139" idx="2"/>
          </p:cNvCxnSpPr>
          <p:nvPr/>
        </p:nvCxnSpPr>
        <p:spPr>
          <a:xfrm rot="-5400000">
            <a:off x="1608800" y="3854169"/>
            <a:ext cx="934800" cy="1489800"/>
          </a:xfrm>
          <a:prstGeom prst="bentConnector3">
            <a:avLst>
              <a:gd fmla="val 49994" name="adj1"/>
            </a:avLst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g3cbf7c4c971_0_12"/>
          <p:cNvCxnSpPr>
            <a:stCxn id="144" idx="0"/>
            <a:endCxn id="139" idx="2"/>
          </p:cNvCxnSpPr>
          <p:nvPr/>
        </p:nvCxnSpPr>
        <p:spPr>
          <a:xfrm flipH="1" rot="5400000">
            <a:off x="3166101" y="3786665"/>
            <a:ext cx="934800" cy="1624800"/>
          </a:xfrm>
          <a:prstGeom prst="bentConnector3">
            <a:avLst>
              <a:gd fmla="val 49994" name="adj1"/>
            </a:avLst>
          </a:prstGeom>
          <a:noFill/>
          <a:ln cap="flat" cmpd="sng" w="86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g3cbf7c4c971_0_12"/>
          <p:cNvSpPr txBox="1"/>
          <p:nvPr/>
        </p:nvSpPr>
        <p:spPr>
          <a:xfrm>
            <a:off x="4902044" y="1483777"/>
            <a:ext cx="659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300" lIns="97300" spcFirstLastPara="1" rIns="97300" wrap="square" tIns="9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Yes</a:t>
            </a:r>
            <a:endParaRPr sz="117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48" name="Google Shape;148;g3cbf7c4c971_0_12"/>
          <p:cNvSpPr txBox="1"/>
          <p:nvPr/>
        </p:nvSpPr>
        <p:spPr>
          <a:xfrm>
            <a:off x="6720746" y="1483777"/>
            <a:ext cx="6594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7300" lIns="97300" spcFirstLastPara="1" rIns="97300" wrap="square" tIns="9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</a:t>
            </a:r>
            <a:endParaRPr sz="117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149" name="Google Shape;149;g3cbf7c4c971_0_12"/>
          <p:cNvGrpSpPr/>
          <p:nvPr/>
        </p:nvGrpSpPr>
        <p:grpSpPr>
          <a:xfrm>
            <a:off x="3219223" y="2742125"/>
            <a:ext cx="2477910" cy="387299"/>
            <a:chOff x="5175200" y="1612800"/>
            <a:chExt cx="2328425" cy="363900"/>
          </a:xfrm>
        </p:grpSpPr>
        <p:sp>
          <p:nvSpPr>
            <p:cNvPr id="150" name="Google Shape;150;g3cbf7c4c971_0_12"/>
            <p:cNvSpPr txBox="1"/>
            <p:nvPr/>
          </p:nvSpPr>
          <p:spPr>
            <a:xfrm>
              <a:off x="5175200" y="1612800"/>
              <a:ext cx="6195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7300" lIns="97300" spcFirstLastPara="1" rIns="97300" wrap="square" tIns="97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7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Yes</a:t>
              </a:r>
              <a:endParaRPr sz="117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51" name="Google Shape;151;g3cbf7c4c971_0_12"/>
            <p:cNvSpPr txBox="1"/>
            <p:nvPr/>
          </p:nvSpPr>
          <p:spPr>
            <a:xfrm>
              <a:off x="6884125" y="1612800"/>
              <a:ext cx="6195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7300" lIns="97300" spcFirstLastPara="1" rIns="97300" wrap="square" tIns="97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7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No</a:t>
              </a:r>
              <a:endParaRPr sz="117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grpSp>
        <p:nvGrpSpPr>
          <p:cNvPr id="152" name="Google Shape;152;g3cbf7c4c971_0_12"/>
          <p:cNvGrpSpPr/>
          <p:nvPr/>
        </p:nvGrpSpPr>
        <p:grpSpPr>
          <a:xfrm>
            <a:off x="1581933" y="4214688"/>
            <a:ext cx="2477910" cy="387299"/>
            <a:chOff x="5175200" y="1612800"/>
            <a:chExt cx="2328425" cy="363900"/>
          </a:xfrm>
        </p:grpSpPr>
        <p:sp>
          <p:nvSpPr>
            <p:cNvPr id="153" name="Google Shape;153;g3cbf7c4c971_0_12"/>
            <p:cNvSpPr txBox="1"/>
            <p:nvPr/>
          </p:nvSpPr>
          <p:spPr>
            <a:xfrm>
              <a:off x="5175200" y="1612800"/>
              <a:ext cx="6195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7300" lIns="97300" spcFirstLastPara="1" rIns="97300" wrap="square" tIns="97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7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Yes</a:t>
              </a:r>
              <a:endParaRPr sz="117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54" name="Google Shape;154;g3cbf7c4c971_0_12"/>
            <p:cNvSpPr txBox="1"/>
            <p:nvPr/>
          </p:nvSpPr>
          <p:spPr>
            <a:xfrm>
              <a:off x="6884125" y="1612800"/>
              <a:ext cx="6195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7300" lIns="97300" spcFirstLastPara="1" rIns="97300" wrap="square" tIns="97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70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No</a:t>
              </a:r>
              <a:endParaRPr sz="117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bf7c4c971_0_17"/>
          <p:cNvSpPr txBox="1"/>
          <p:nvPr>
            <p:ph type="title"/>
          </p:nvPr>
        </p:nvSpPr>
        <p:spPr>
          <a:xfrm>
            <a:off x="685800" y="280150"/>
            <a:ext cx="7772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/>
              <a:t>Proposed Approach</a:t>
            </a:r>
            <a:endParaRPr sz="3200"/>
          </a:p>
        </p:txBody>
      </p:sp>
      <p:sp>
        <p:nvSpPr>
          <p:cNvPr id="160" name="Google Shape;160;g3cbf7c4c971_0_17"/>
          <p:cNvSpPr txBox="1"/>
          <p:nvPr/>
        </p:nvSpPr>
        <p:spPr>
          <a:xfrm>
            <a:off x="562900" y="1448125"/>
            <a:ext cx="84681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Data Representation</a:t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Spatial Neighborhood Construction</a:t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Co-location Pattern Mining</a:t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Anti-Co-location Detection</a:t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Hotspot Integration</a:t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Spatial Classification Framework</a:t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61" name="Google Shape;161;g3cbf7c4c971_0_17"/>
          <p:cNvSpPr txBox="1"/>
          <p:nvPr/>
        </p:nvSpPr>
        <p:spPr>
          <a:xfrm>
            <a:off x="5375275" y="1674425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 Medium"/>
                <a:ea typeface="Montserrat Medium"/>
                <a:cs typeface="Montserrat Medium"/>
                <a:sym typeface="Montserrat Medium"/>
              </a:rPr>
              <a:t>Map Points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 Medium"/>
                <a:ea typeface="Montserrat Medium"/>
                <a:cs typeface="Montserrat Medium"/>
                <a:sym typeface="Montserrat Medium"/>
              </a:rPr>
              <a:t>🟢 Grocery, 🔴 Fa</a:t>
            </a:r>
            <a:r>
              <a:rPr lang="en-US">
                <a:latin typeface="Montserrat Medium"/>
                <a:ea typeface="Montserrat Medium"/>
                <a:cs typeface="Montserrat Medium"/>
                <a:sym typeface="Montserrat Medium"/>
              </a:rPr>
              <a:t>st-Food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 Medium"/>
                <a:ea typeface="Montserrat Medium"/>
                <a:cs typeface="Montserrat Medium"/>
                <a:sym typeface="Montserrat Medium"/>
              </a:rPr>
              <a:t>400m Neighborhood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 Medium"/>
                <a:ea typeface="Montserrat Medium"/>
                <a:cs typeface="Montserrat Medium"/>
                <a:sym typeface="Montserrat Medium"/>
              </a:rPr>
              <a:t>Example Area: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 Medium"/>
                <a:ea typeface="Montserrat Medium"/>
                <a:cs typeface="Montserrat Medium"/>
                <a:sym typeface="Montserrat Medium"/>
              </a:rPr>
              <a:t>🔴🔴🔴🔴🔴5, 🟢 0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 Medium"/>
                <a:ea typeface="Montserrat Medium"/>
                <a:cs typeface="Montserrat Medium"/>
                <a:sym typeface="Montserrat Medium"/>
              </a:rPr>
              <a:t>Low Grocery PI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 Medium"/>
                <a:ea typeface="Montserrat Medium"/>
                <a:cs typeface="Montserrat Medium"/>
                <a:sym typeface="Montserrat Medium"/>
              </a:rPr>
              <a:t>          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 Medium"/>
                <a:ea typeface="Montserrat Medium"/>
                <a:cs typeface="Montserrat Medium"/>
                <a:sym typeface="Montserrat Medium"/>
              </a:rPr>
              <a:t>Fast-Food Hotspot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 Medium"/>
                <a:ea typeface="Montserrat Medium"/>
                <a:cs typeface="Montserrat Medium"/>
                <a:sym typeface="Montserrat Medium"/>
              </a:rPr>
              <a:t>          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 Medium"/>
                <a:ea typeface="Montserrat Medium"/>
                <a:cs typeface="Montserrat Medium"/>
                <a:sym typeface="Montserrat Medium"/>
              </a:rPr>
              <a:t>TRUE FOOD DESERT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2" name="Google Shape;162;g3cbf7c4c971_0_17"/>
          <p:cNvSpPr/>
          <p:nvPr/>
        </p:nvSpPr>
        <p:spPr>
          <a:xfrm>
            <a:off x="5489550" y="1533300"/>
            <a:ext cx="2885700" cy="3252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3" name="Google Shape;163;g3cbf7c4c971_0_17"/>
          <p:cNvSpPr/>
          <p:nvPr/>
        </p:nvSpPr>
        <p:spPr>
          <a:xfrm>
            <a:off x="6860225" y="2230250"/>
            <a:ext cx="36900" cy="186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cbf7c4c971_0_17"/>
          <p:cNvSpPr/>
          <p:nvPr/>
        </p:nvSpPr>
        <p:spPr>
          <a:xfrm>
            <a:off x="6856825" y="2656450"/>
            <a:ext cx="36900" cy="186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cbf7c4c971_0_17"/>
          <p:cNvSpPr/>
          <p:nvPr/>
        </p:nvSpPr>
        <p:spPr>
          <a:xfrm>
            <a:off x="6856825" y="3301200"/>
            <a:ext cx="36900" cy="186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cbf7c4c971_0_17"/>
          <p:cNvSpPr/>
          <p:nvPr/>
        </p:nvSpPr>
        <p:spPr>
          <a:xfrm>
            <a:off x="6856825" y="3717025"/>
            <a:ext cx="36900" cy="186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cbf7c4c971_0_17"/>
          <p:cNvSpPr/>
          <p:nvPr/>
        </p:nvSpPr>
        <p:spPr>
          <a:xfrm>
            <a:off x="6860225" y="4132850"/>
            <a:ext cx="36900" cy="186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bf7c4c971_0_45"/>
          <p:cNvSpPr txBox="1"/>
          <p:nvPr>
            <p:ph type="title"/>
          </p:nvPr>
        </p:nvSpPr>
        <p:spPr>
          <a:xfrm>
            <a:off x="685800" y="280150"/>
            <a:ext cx="7772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/>
              <a:t>Validation</a:t>
            </a:r>
            <a:r>
              <a:rPr b="1" lang="en-US" sz="3200"/>
              <a:t> Methodology</a:t>
            </a:r>
            <a:endParaRPr sz="3200"/>
          </a:p>
        </p:txBody>
      </p:sp>
      <p:sp>
        <p:nvSpPr>
          <p:cNvPr id="173" name="Google Shape;173;g3cbf7c4c971_0_45"/>
          <p:cNvSpPr txBox="1"/>
          <p:nvPr/>
        </p:nvSpPr>
        <p:spPr>
          <a:xfrm>
            <a:off x="250415" y="2086192"/>
            <a:ext cx="4182600" cy="30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Controlled Example (Synthetic)</a:t>
            </a:r>
            <a:endParaRPr b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Create simple artificial regions</a:t>
            </a:r>
            <a:b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Design 3 patterns:</a:t>
            </a:r>
            <a:b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 – Balanced</a:t>
            </a:r>
            <a:b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 – Fast-food dominant</a:t>
            </a:r>
            <a:b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 – Grocery absence</a:t>
            </a:r>
            <a:b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Verify correct classification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g3cbf7c4c971_0_45"/>
          <p:cNvSpPr txBox="1"/>
          <p:nvPr/>
        </p:nvSpPr>
        <p:spPr>
          <a:xfrm>
            <a:off x="4630881" y="1655594"/>
            <a:ext cx="4375500" cy="3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Real Data Experiment</a:t>
            </a:r>
            <a:endParaRPr b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Apply to Minneapolis (or other city) POI data</a:t>
            </a:r>
            <a:b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Test radius (300m / 400m / 500m)</a:t>
            </a:r>
            <a:b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Compare with proximity-based method</a:t>
            </a:r>
            <a:b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Check result stability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Baseline: 1-mile supermarket buffer model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Evaluation metrics: Precision / Recall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• Sensitivity analysis on PI threshold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g3cbf7c4c971_0_45"/>
          <p:cNvSpPr/>
          <p:nvPr/>
        </p:nvSpPr>
        <p:spPr>
          <a:xfrm>
            <a:off x="188925" y="2022667"/>
            <a:ext cx="4305600" cy="274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cbf7c4c971_0_45"/>
          <p:cNvSpPr/>
          <p:nvPr/>
        </p:nvSpPr>
        <p:spPr>
          <a:xfrm>
            <a:off x="4630875" y="1655600"/>
            <a:ext cx="4375500" cy="3400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4a8ed0b88_0_0"/>
          <p:cNvSpPr txBox="1"/>
          <p:nvPr>
            <p:ph type="title"/>
          </p:nvPr>
        </p:nvSpPr>
        <p:spPr>
          <a:xfrm>
            <a:off x="685800" y="280150"/>
            <a:ext cx="7772400" cy="780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Conclusions and Future Work</a:t>
            </a:r>
            <a:endParaRPr b="1" sz="3200"/>
          </a:p>
        </p:txBody>
      </p:sp>
      <p:sp>
        <p:nvSpPr>
          <p:cNvPr id="183" name="Google Shape;183;g3c4a8ed0b88_0_0"/>
          <p:cNvSpPr txBox="1"/>
          <p:nvPr/>
        </p:nvSpPr>
        <p:spPr>
          <a:xfrm>
            <a:off x="333900" y="1272850"/>
            <a:ext cx="8476200" cy="41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Conclusions </a:t>
            </a:r>
            <a:endParaRPr b="1" sz="17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</a:t>
            </a: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Spatial co-location framework for food desert detection 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Combines hotspot analysis + PI-based mining 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Produces interpretable urban service classification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Future Work </a:t>
            </a:r>
            <a:endParaRPr b="1" sz="17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Add more POI categories 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Integrate socio-economic layers 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Multi-city / temporal extension</a:t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bf7c4c971_0_58"/>
          <p:cNvSpPr txBox="1"/>
          <p:nvPr>
            <p:ph type="title"/>
          </p:nvPr>
        </p:nvSpPr>
        <p:spPr>
          <a:xfrm>
            <a:off x="685800" y="280150"/>
            <a:ext cx="7772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/>
              <a:t>Timeline</a:t>
            </a:r>
            <a:endParaRPr sz="3200"/>
          </a:p>
        </p:txBody>
      </p:sp>
      <p:graphicFrame>
        <p:nvGraphicFramePr>
          <p:cNvPr id="189" name="Google Shape;189;g3cbf7c4c971_0_58"/>
          <p:cNvGraphicFramePr/>
          <p:nvPr/>
        </p:nvGraphicFramePr>
        <p:xfrm>
          <a:off x="952500" y="1238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{F105DEDE-7AB5-4242-8DEB-E5E01B3A66BE}</a:tableStyleId>
              </a:tblPr>
              <a:tblGrid>
                <a:gridCol w="2163675"/>
                <a:gridCol w="5075325"/>
              </a:tblGrid>
              <a:tr h="541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Week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7A00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A00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7A00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7A00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Tasks</a:t>
                      </a:r>
                      <a:endParaRPr b="1"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7A00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7A00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7A00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7A00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1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March 3 - </a:t>
                      </a: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Mar </a:t>
                      </a:r>
                      <a:r>
                        <a:rPr lang="en-US" sz="1600"/>
                        <a:t>8</a:t>
                      </a:r>
                      <a:endParaRPr sz="1600"/>
                    </a:p>
                  </a:txBody>
                  <a:tcPr marT="91425" marB="91425" marR="91425" marL="91425" anchor="ctr">
                    <a:lnT cap="flat" cmpd="sng" w="38100">
                      <a:solidFill>
                        <a:srgbClr val="7A00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/>
                        <a:t>• Research design &amp; literature review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• Data collection</a:t>
                      </a:r>
                      <a:endParaRPr sz="1600"/>
                    </a:p>
                  </a:txBody>
                  <a:tcPr marT="91425" marB="91425" marR="91425" marL="91425" anchor="ctr">
                    <a:lnT cap="flat" cmpd="sng" w="38100">
                      <a:solidFill>
                        <a:srgbClr val="7A00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52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March 16 - </a:t>
                      </a: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Mar </a:t>
                      </a:r>
                      <a:r>
                        <a:rPr lang="en-US" sz="1600"/>
                        <a:t>23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/>
                        <a:t>• Data preprocessing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• Framework design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52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Mar 24 - </a:t>
                      </a: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Mar </a:t>
                      </a:r>
                      <a:r>
                        <a:rPr lang="en-US" sz="1600"/>
                        <a:t>30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/>
                        <a:t>• Implement PI computation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• Develop classification rules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52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Mar 31 - April 6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/>
                        <a:t>• Apply to real data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• Validation &amp; baseline comparison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  <a:tr h="52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April 7 - </a:t>
                      </a:r>
                      <a:r>
                        <a:rPr lang="en-US" sz="1600">
                          <a:solidFill>
                            <a:schemeClr val="dk1"/>
                          </a:solidFill>
                        </a:rPr>
                        <a:t>April </a:t>
                      </a:r>
                      <a:r>
                        <a:rPr lang="en-US" sz="1600"/>
                        <a:t>16</a:t>
                      </a:r>
                      <a:endParaRPr sz="16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600"/>
                        <a:t>• Result analysis</a:t>
                      </a:r>
                      <a:endParaRPr sz="16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• Prepare maps &amp; presentation materials</a:t>
                      </a:r>
                      <a:endParaRPr sz="16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bf7c4c971_0_63"/>
          <p:cNvSpPr txBox="1"/>
          <p:nvPr>
            <p:ph type="title"/>
          </p:nvPr>
        </p:nvSpPr>
        <p:spPr>
          <a:xfrm>
            <a:off x="685800" y="2566125"/>
            <a:ext cx="7772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700"/>
              <a:t>Questions?</a:t>
            </a:r>
            <a:endParaRPr sz="4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c0f702c63_0_55"/>
          <p:cNvSpPr txBox="1"/>
          <p:nvPr>
            <p:ph type="title"/>
          </p:nvPr>
        </p:nvSpPr>
        <p:spPr>
          <a:xfrm>
            <a:off x="685800" y="2566125"/>
            <a:ext cx="7772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700"/>
              <a:t>Thank you</a:t>
            </a:r>
            <a:endParaRPr b="1" sz="4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c75708078_0_2"/>
          <p:cNvSpPr txBox="1"/>
          <p:nvPr>
            <p:ph type="title"/>
          </p:nvPr>
        </p:nvSpPr>
        <p:spPr>
          <a:xfrm>
            <a:off x="685800" y="280150"/>
            <a:ext cx="7772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/>
              <a:t>Key Concepts</a:t>
            </a:r>
            <a:endParaRPr sz="2800"/>
          </a:p>
        </p:txBody>
      </p:sp>
      <p:sp>
        <p:nvSpPr>
          <p:cNvPr id="205" name="Google Shape;205;g3cc75708078_0_2"/>
          <p:cNvSpPr txBox="1"/>
          <p:nvPr/>
        </p:nvSpPr>
        <p:spPr>
          <a:xfrm>
            <a:off x="206675" y="1308050"/>
            <a:ext cx="4535700" cy="46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Food Desert</a:t>
            </a:r>
            <a:endParaRPr b="1" sz="16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Areas with limited access to affordable and nutritious grocery options.</a:t>
            </a:r>
            <a:endParaRPr sz="16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6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-US" sz="16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Often characterized by a high density of fast-food or convenience stores relative to grocery stores.</a:t>
            </a:r>
            <a:endParaRPr sz="16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16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-US" sz="16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Reflects structural imbalance in local food environments rather than simple distance measures.</a:t>
            </a:r>
            <a:endParaRPr sz="16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○ </a:t>
            </a:r>
            <a:r>
              <a:rPr lang="en-US" sz="11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Not just proximity, but spatial composition matters.</a:t>
            </a:r>
            <a:endParaRPr sz="11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06" name="Google Shape;206;g3cc75708078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2885" y="3528100"/>
            <a:ext cx="4010450" cy="220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cc75708078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5659" y="1017862"/>
            <a:ext cx="4104914" cy="226692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cc75708078_0_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80000"/>
                </a:solidFill>
              </a:rPr>
              <a:t>For reference</a:t>
            </a:r>
            <a:endParaRPr b="1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c75708078_0_9"/>
          <p:cNvSpPr txBox="1"/>
          <p:nvPr>
            <p:ph type="title"/>
          </p:nvPr>
        </p:nvSpPr>
        <p:spPr>
          <a:xfrm>
            <a:off x="685800" y="280150"/>
            <a:ext cx="7772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/>
              <a:t>Key Concepts</a:t>
            </a:r>
            <a:endParaRPr sz="2800"/>
          </a:p>
        </p:txBody>
      </p:sp>
      <p:sp>
        <p:nvSpPr>
          <p:cNvPr id="214" name="Google Shape;214;g3cc75708078_0_9"/>
          <p:cNvSpPr txBox="1"/>
          <p:nvPr/>
        </p:nvSpPr>
        <p:spPr>
          <a:xfrm>
            <a:off x="206675" y="1308050"/>
            <a:ext cx="4880100" cy="4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Spatial Neighborhood (R)</a:t>
            </a:r>
            <a:endParaRPr b="1" sz="16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A predefined geographic radius used to define local spatial interactions.</a:t>
            </a:r>
            <a:endParaRPr sz="16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6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-US" sz="16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Determines which food outlets are considered “neighbors.”</a:t>
            </a:r>
            <a:endParaRPr sz="16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Changing R can alter detected spatial patterns (sensitivity issue).</a:t>
            </a:r>
            <a:endParaRPr sz="16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○</a:t>
            </a:r>
            <a:r>
              <a:rPr lang="en-US" sz="11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Spatial results depend on neighborhood scale.</a:t>
            </a:r>
            <a:endParaRPr sz="11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15" name="Google Shape;215;g3cc75708078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1400" y="1278698"/>
            <a:ext cx="3478100" cy="21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3cc75708078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1400" y="3499151"/>
            <a:ext cx="3478100" cy="215389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cc75708078_0_9"/>
          <p:cNvSpPr txBox="1"/>
          <p:nvPr/>
        </p:nvSpPr>
        <p:spPr>
          <a:xfrm>
            <a:off x="7567225" y="2863375"/>
            <a:ext cx="68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R=300M</a:t>
            </a:r>
            <a:endParaRPr sz="1000"/>
          </a:p>
        </p:txBody>
      </p:sp>
      <p:sp>
        <p:nvSpPr>
          <p:cNvPr id="218" name="Google Shape;218;g3cc75708078_0_9"/>
          <p:cNvSpPr txBox="1"/>
          <p:nvPr/>
        </p:nvSpPr>
        <p:spPr>
          <a:xfrm>
            <a:off x="7567225" y="5133250"/>
            <a:ext cx="68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R=500M</a:t>
            </a:r>
            <a:endParaRPr sz="1000"/>
          </a:p>
        </p:txBody>
      </p:sp>
      <p:sp>
        <p:nvSpPr>
          <p:cNvPr id="219" name="Google Shape;219;g3cc75708078_0_9"/>
          <p:cNvSpPr/>
          <p:nvPr/>
        </p:nvSpPr>
        <p:spPr>
          <a:xfrm>
            <a:off x="6145425" y="2095275"/>
            <a:ext cx="165600" cy="1527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cc75708078_0_9"/>
          <p:cNvSpPr/>
          <p:nvPr/>
        </p:nvSpPr>
        <p:spPr>
          <a:xfrm>
            <a:off x="6195075" y="2138625"/>
            <a:ext cx="66300" cy="66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cc75708078_0_9"/>
          <p:cNvSpPr/>
          <p:nvPr/>
        </p:nvSpPr>
        <p:spPr>
          <a:xfrm>
            <a:off x="5873150" y="4176925"/>
            <a:ext cx="579000" cy="581100"/>
          </a:xfrm>
          <a:prstGeom prst="ellipse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cc75708078_0_9"/>
          <p:cNvSpPr/>
          <p:nvPr/>
        </p:nvSpPr>
        <p:spPr>
          <a:xfrm>
            <a:off x="6129500" y="4443175"/>
            <a:ext cx="66300" cy="66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cc75708078_0_9"/>
          <p:cNvSpPr/>
          <p:nvPr/>
        </p:nvSpPr>
        <p:spPr>
          <a:xfrm>
            <a:off x="6311025" y="4481275"/>
            <a:ext cx="29100" cy="279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cc75708078_0_9"/>
          <p:cNvSpPr/>
          <p:nvPr/>
        </p:nvSpPr>
        <p:spPr>
          <a:xfrm>
            <a:off x="6203650" y="4443175"/>
            <a:ext cx="29100" cy="279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cc75708078_0_9"/>
          <p:cNvSpPr/>
          <p:nvPr/>
        </p:nvSpPr>
        <p:spPr>
          <a:xfrm>
            <a:off x="6155825" y="4388100"/>
            <a:ext cx="29100" cy="279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cc75708078_0_9"/>
          <p:cNvSpPr/>
          <p:nvPr/>
        </p:nvSpPr>
        <p:spPr>
          <a:xfrm>
            <a:off x="6129500" y="4401600"/>
            <a:ext cx="29100" cy="279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cc75708078_0_9"/>
          <p:cNvSpPr/>
          <p:nvPr/>
        </p:nvSpPr>
        <p:spPr>
          <a:xfrm>
            <a:off x="6022125" y="4429500"/>
            <a:ext cx="29100" cy="27900"/>
          </a:xfrm>
          <a:prstGeom prst="ellipse">
            <a:avLst/>
          </a:prstGeom>
          <a:solidFill>
            <a:srgbClr val="FF9900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cc75708078_0_9"/>
          <p:cNvSpPr txBox="1"/>
          <p:nvPr/>
        </p:nvSpPr>
        <p:spPr>
          <a:xfrm>
            <a:off x="7299225" y="3160450"/>
            <a:ext cx="143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 2 neighbors detected</a:t>
            </a:r>
            <a:endParaRPr sz="1000"/>
          </a:p>
        </p:txBody>
      </p:sp>
      <p:sp>
        <p:nvSpPr>
          <p:cNvPr id="229" name="Google Shape;229;g3cc75708078_0_9"/>
          <p:cNvSpPr txBox="1"/>
          <p:nvPr/>
        </p:nvSpPr>
        <p:spPr>
          <a:xfrm>
            <a:off x="7345500" y="5399850"/>
            <a:ext cx="143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 5 neighbors detected</a:t>
            </a:r>
            <a:endParaRPr sz="1000"/>
          </a:p>
        </p:txBody>
      </p:sp>
      <p:sp>
        <p:nvSpPr>
          <p:cNvPr id="230" name="Google Shape;230;g3cc75708078_0_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80000"/>
                </a:solidFill>
              </a:rPr>
              <a:t>For reference</a:t>
            </a:r>
            <a:endParaRPr b="1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c0f702c63_0_72"/>
          <p:cNvSpPr txBox="1"/>
          <p:nvPr>
            <p:ph type="title"/>
          </p:nvPr>
        </p:nvSpPr>
        <p:spPr>
          <a:xfrm>
            <a:off x="685800" y="198507"/>
            <a:ext cx="7772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800"/>
              <a:t>Key Concepts</a:t>
            </a:r>
            <a:endParaRPr sz="2800"/>
          </a:p>
        </p:txBody>
      </p:sp>
      <p:sp>
        <p:nvSpPr>
          <p:cNvPr id="236" name="Google Shape;236;g3cc0f702c63_0_72"/>
          <p:cNvSpPr txBox="1"/>
          <p:nvPr/>
        </p:nvSpPr>
        <p:spPr>
          <a:xfrm>
            <a:off x="206675" y="1226407"/>
            <a:ext cx="4535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Participation Index (PI)</a:t>
            </a:r>
            <a:endParaRPr b="1" sz="15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Computed as the minimum participation ratio across all event types in a pattern.</a:t>
            </a:r>
            <a:endParaRPr sz="15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lang="en-US" sz="15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-US" sz="15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Measures the strength and prevalence of a co-location pattern.</a:t>
            </a:r>
            <a:endParaRPr sz="15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• A high PI indicates strong spatial coupling between event types.</a:t>
            </a:r>
            <a:endParaRPr sz="15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○</a:t>
            </a:r>
            <a:r>
              <a:rPr lang="en-US" sz="10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Ensures balanced participation among categories.</a:t>
            </a:r>
            <a:endParaRPr sz="10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237" name="Google Shape;237;g3cc0f702c63_0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0138" y="1731770"/>
            <a:ext cx="4096825" cy="837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cc0f702c63_0_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7763" y="3436045"/>
            <a:ext cx="28003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3cc0f702c63_0_72"/>
          <p:cNvSpPr txBox="1"/>
          <p:nvPr/>
        </p:nvSpPr>
        <p:spPr>
          <a:xfrm>
            <a:off x="5552063" y="246499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Formula: </a:t>
            </a:r>
            <a:r>
              <a:rPr lang="en-US" sz="1100"/>
              <a:t>Participation Ratio Formula</a:t>
            </a:r>
            <a:endParaRPr sz="1100"/>
          </a:p>
        </p:txBody>
      </p:sp>
      <p:sp>
        <p:nvSpPr>
          <p:cNvPr id="240" name="Google Shape;240;g3cc0f702c63_0_72"/>
          <p:cNvSpPr txBox="1"/>
          <p:nvPr/>
        </p:nvSpPr>
        <p:spPr>
          <a:xfrm>
            <a:off x="5656388" y="404564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Formula: </a:t>
            </a:r>
            <a:r>
              <a:rPr lang="en-US" sz="1100"/>
              <a:t> Participation Index</a:t>
            </a:r>
            <a:endParaRPr sz="1100"/>
          </a:p>
        </p:txBody>
      </p:sp>
      <p:sp>
        <p:nvSpPr>
          <p:cNvPr id="241" name="Google Shape;241;g3cc0f702c63_0_72"/>
          <p:cNvSpPr txBox="1"/>
          <p:nvPr/>
        </p:nvSpPr>
        <p:spPr>
          <a:xfrm>
            <a:off x="249875" y="4534132"/>
            <a:ext cx="2800500" cy="22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</a:t>
            </a:r>
            <a:r>
              <a:rPr lang="en-US" sz="12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C = {Grocery, FastFood}</a:t>
            </a:r>
            <a:endParaRPr sz="12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Total Grocery stores: 10</a:t>
            </a:r>
            <a:br>
              <a:rPr lang="en-US" sz="12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-US" sz="12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Participating Grocery stores: 6</a:t>
            </a:r>
            <a:br>
              <a:rPr lang="en-US" sz="12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-US" sz="12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PR(C, Grocery) = 6 / 10 = 0.6</a:t>
            </a:r>
            <a:endParaRPr sz="12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42" name="Google Shape;242;g3cc0f702c63_0_72"/>
          <p:cNvSpPr txBox="1"/>
          <p:nvPr/>
        </p:nvSpPr>
        <p:spPr>
          <a:xfrm>
            <a:off x="3072000" y="4888107"/>
            <a:ext cx="30000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Total Fast-Food outlets: 8</a:t>
            </a:r>
            <a:br>
              <a:rPr lang="en-US" sz="12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-US" sz="12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Participating Fast-Food outlets: 4</a:t>
            </a:r>
            <a:br>
              <a:rPr lang="en-US" sz="12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-US" sz="12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PR(C, FastFood) = 4 / 8 = 0.5</a:t>
            </a:r>
            <a:endParaRPr/>
          </a:p>
        </p:txBody>
      </p:sp>
      <p:sp>
        <p:nvSpPr>
          <p:cNvPr id="243" name="Google Shape;243;g3cc0f702c63_0_72"/>
          <p:cNvSpPr txBox="1"/>
          <p:nvPr/>
        </p:nvSpPr>
        <p:spPr>
          <a:xfrm>
            <a:off x="6072000" y="5080357"/>
            <a:ext cx="30000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PI(C) = min(0.6, 0.5) = 0.5</a:t>
            </a:r>
            <a:endParaRPr/>
          </a:p>
        </p:txBody>
      </p:sp>
      <p:sp>
        <p:nvSpPr>
          <p:cNvPr id="244" name="Google Shape;244;g3cc0f702c63_0_72"/>
          <p:cNvSpPr/>
          <p:nvPr/>
        </p:nvSpPr>
        <p:spPr>
          <a:xfrm>
            <a:off x="136700" y="4534132"/>
            <a:ext cx="8763000" cy="1197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cc0f702c63_0_7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80000"/>
                </a:solidFill>
              </a:rPr>
              <a:t>For reference</a:t>
            </a:r>
            <a:endParaRPr b="1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D2D-3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2020-06-05T19:08:55Z</dcterms:created>
  <dc:creator>Yan Li</dc:creator>
</cp:coreProperties>
</file>